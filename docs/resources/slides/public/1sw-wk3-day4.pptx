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Run time 50 minutes: warm-up 5, choose and model 8, research 30, evidence comparison exit 7. The Emerging IT Career Evidence Guide and the Research Template are both on the Day 4 page.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The third blank is the point: a new technology creates new work, and today's question is whether the government's job data has caught up with that work yet.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5-13 min. Model with the Data Scientists page on the projector: point at the median, the growth rate, and the years next to each. Then say the rule: exact if BLS names your job, proxy if it names a bigger job that includes yours. The evidence guide labels every choice already; students copy the label, they do not decide it.
[Sources]
U.S. Bureau of Labor Statistics, Occupational Outlook Handbook, "Data Scientists" (https://www.bls.gov/ooh/math/data-scientists.htm), screenshot captured 2026-09-15. Public domain. 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5-13 min. One minute to choose. Assign a career to anyone still deciding at the minute mark. Six careers across the room is fine; three students on one career is fine.
[Sources]
Emerging IT Career Evidence Guide (CCE-authored, build/worksheet_sources/wk3-emerging-careers-link-sheet.md; BLS OOH accessed 2026-08-09, May 2024 medians, 2024-34 projections).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13-43 min. Lap 1 at minute 10 (occupation plus label), lap 2 at minute 22 (the emerging-work explanation). A median is not starting pay and a national number is not a Dallas salary; say it once when you see the first salary written down. Note for you: the printed guide was built from the May 2024 BLS release; the live site now shows 2025 medians and 2025-35 projections. That mismatch is the lesson working as designed (date your sources), but the guide should be regenerated before this week runs again.
[Sources]
Emerging IT Career Evidence Guide (CCE-authored, build/worksheet_sources/wk3-emerging-careers-link-sheet.md; BLS OOH accessed 2026-08-09, May 2024 medians, 2024-34 projections). U.S. Bureau of Labor Statistics, Occupational Outlook Handbook, "Data Scientists" (https://www.bls.gov/ooh/math/data-scientists.htm), screenshot captured 2026-09-15. Public domain.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43-45 min. Two minutes total. Listen for the word proxy used correctly; that is the d(1)(D) evidence for the day.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43-50 min. The button opens a copy of the comparison Doc. The traditional career's numbers come from the Week 2 salary work or the same BLS site; both are fine if dated. Collect this sheet into the Major 1 packet; it is the Emerging Career Evidence rubric row.
[Sources]
Canvas page renders of CCE course 98060 student pages, captured 2026-09-15. 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Score the packets with the 16-point rubric before Day 5's Xello block; the rubric is on the Day 3 page.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job, or new name?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IT careers, with evidence.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Chromebook and your Major 1 packet. No workbook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technology you use today that did NOT exist when your parents were in middle school.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did not exist then. Somebody had to ________ it, so a new job appeared: ________.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334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Smartphones, video calls, streaming, AI chatbots.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'emerging' means and the exact-or-proxy rule.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of six changing IT careers.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it with the dated evidence guide: tasks, preparation, median pay, growth, and the date of every number.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it to a traditional IT career on the exit ticket.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proxy. A broader job used to stand in when your exact job title is not listed.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 match or proxy?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Bureau of Labor Statistics does not list every new job title</a:t>
            </a:r>
            <a:endParaRPr lang="en-US" sz="2100" dirty="0"/>
          </a:p>
        </p:txBody>
      </p:sp>
      <p:pic>
        <p:nvPicPr>
          <p:cNvPr id="4" name="Image 0" descr="/home/claude/cce/build/slides/1sw-wk3/assets/bls-datas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6667500" cy="26193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45720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BLS Quick Facts box. Every number has a year next to it. Copy the year every time.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20000" y="19050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48600" y="2019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05900" y="20193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lists your job by name. Data Scientist is exact.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20000" y="28575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48600" y="2971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Proxy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105900" y="29718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lists a broader job that includes yours. Cloud Architect uses Computer Network Architects.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20000" y="38100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48600" y="3924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105900" y="39243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cool job title with no BLS page is not proof the job is new. It is a missing source.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0482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means the work is new or changing fast because of new technology. A new-sounding name by itself is not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one career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IT Career Evidence Guide · link on the Day 4 page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Engineer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39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339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72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77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Analyst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677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exact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exact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39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Designer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339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closest match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772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77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Software Developer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677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pic>
        <p:nvPicPr>
          <p:cNvPr id="22" name="Image 0" descr="/home/claude/cce/build/slides/1sw-wk3/assets/cv-d4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572000"/>
            <a:ext cx="4762500" cy="666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715000" y="4572000"/>
            <a:ext cx="5867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 carries the BLS occupation, the page link, and the dated numbers for each. Take the choice you can explain in 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with dated evidence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· Voice 0 · Open the Emerging Tech Research Template</a:t>
            </a:r>
            <a:endParaRPr lang="en-US" sz="2100" dirty="0"/>
          </a:p>
        </p:txBody>
      </p:sp>
      <p:pic>
        <p:nvPicPr>
          <p:cNvPr id="4" name="Image 0" descr="/home/claude/cce/build/slides/1sw-wk3/assets/cv-d4-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9527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" y="31051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" y="3105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47800" y="30670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BLS occupation and its label (exact or proxy) from the guide.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600" y="36385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0100" y="37909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" y="3790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447800" y="37528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BLS page from the guide. Record tasks, preparation, median pay, growth.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9600" y="43243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" y="44767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" y="4476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47800" y="44386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YEAR next to every number. Guide and website disagree? Use the newer one and say so.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9600" y="50101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" y="51625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" y="5162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447800" y="51244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 two sentences why this work is new or changing.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10500" y="1905000"/>
            <a:ext cx="37719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300" dirty="0"/>
          </a:p>
        </p:txBody>
      </p:sp>
      <p:sp>
        <p:nvSpPr>
          <p:cNvPr id="23" name="Text 20"/>
          <p:cNvSpPr txBox="1"/>
          <p:nvPr/>
        </p:nvSpPr>
        <p:spPr>
          <a:xfrm>
            <a:off x="8039100" y="245745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10: occupation and label written.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22: the 'why it is changing' sentences started.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039100" y="361950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done when</a:t>
            </a:r>
            <a:endParaRPr lang="en-US" sz="2300" dirty="0"/>
          </a:p>
        </p:txBody>
      </p:sp>
      <p:sp>
        <p:nvSpPr>
          <p:cNvPr id="25" name="Text 22"/>
          <p:cNvSpPr txBox="1"/>
          <p:nvPr/>
        </p:nvSpPr>
        <p:spPr>
          <a:xfrm>
            <a:off x="8039100" y="40386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has a year, the label matches the guide, and your two sentences name a technology.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9600" y="5810250"/>
            <a:ext cx="10972800" cy="6096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" y="5962650"/>
            <a:ext cx="1059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Open the Similar Occupations tab on your BLS page and record one job that could be a second proxy.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and tell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each · Voice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partner which career you chose and whether your evidence is exact or a proxy. Your partner repeats it back in one sentence.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619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0576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reports this exact career.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reports a related occupation that helps us understand this career.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50482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548640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  ·  task  ·  preparation  ·  median pay  ·  growth  ·  exact match  ·  proxy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ticket: emerging vs. traditional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Emerging/Established IT Career Comparison · 7 minutes</a:t>
            </a:r>
            <a:endParaRPr lang="en-US" sz="2100" dirty="0"/>
          </a:p>
        </p:txBody>
      </p:sp>
      <p:pic>
        <p:nvPicPr>
          <p:cNvPr id="4" name="Image 0" descr="/home/claude/cce/build/slides/1sw-wk3/assets/cv-d4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762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3048000"/>
            <a:ext cx="6858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200" y="320040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emerging career vs. one traditional IT career (Software Developer, Web Developer, Network Administrator, or Database Administrator).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Rows: what they do · median salary (BLS, with year) · growth rate (BLS, with years) · why did this career exist 20 years ago?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10500" y="1905000"/>
            <a:ext cx="37719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line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039100" y="245745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two is growing faster right now? Use the growth rates from your matrix to back it up in one sentence.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524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59626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is growing faster: ____% vs. ____% (BLS, ______).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template finished, every number dated.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submitted and added to your Major 1 packet.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turned in: plan, four screens, partner notes, starred changes, evidence sheet.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is Xello: a quiz about how you learn, then a short lesson. No packet needed.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2026-09-15T14:54:33Z</dcterms:created>
  <dcterms:modified xsi:type="dcterms:W3CDTF">2026-09-15T14:54:33Z</dcterms:modified>
</cp:coreProperties>
</file>