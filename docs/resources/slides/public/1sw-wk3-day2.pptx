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this up as students walk in. Sticky notes on every table (about 4 per student today). Run time 50 minutes: warm-up 5, learn about UX 12, investigate 5, strengths and problems 9, fixes 9, sketch 4, exit ticket 6.
[Sources]
Find Your Future (Irving ISD / Hats &amp; Ladders, ©2026), printed pp. 28-29; district-licensed workbook page images from the CCE Canvas course, not for public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min. Take two voices. Listen for verbs: 'I could not find', 'it took forever', 'the button did nothing'. Those verbs are the whole lesson; you will point back to them in Step 1.
[Sources]
Find Your Future (Irving ISD / Hats &amp; Ladders, ©2026), printed pp. 28-29; district-licensed workbook page images from the CCE Canvas course, not for public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Read the four lines and move on.
[Sources]
Find Your Future (Irving ISD / Hats &amp; Ladders, ©2026), printed pp. 28-29; district-licensed workbook page images from the CCE Canvas course, not for public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5-17 min. Read the laptop box aloud from p. 28, then the two short lists on the right. Connect one warm-up answer to each list: 'Marcus said he could not find the menu; that is Confusing Navigation.' Chunking rule for the rest of the period: one step opens at a time, and you say what the step is for before it opens.
[Sources]
Find Your Future (Irving ISD / Hats &amp; Ladders, ©2026), printed pp. 28-29; district-licensed workbook page images from the CCE Canvas course, not for public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17-22 min. Open the site on the projector, then release Chromebooks. Give 90 seconds before any list-making; one thought per sticky. Read stickies over shoulders. If most name colors and fonts instead of navigation, pull the room back for 30 seconds and re-read the Easy Navigation and Clear Buttons rows from Step 1 before the lists open. The site is the practice store named on the Climber Notes deck; if it is blocked, the Day 2 student page has a full-page capture under 'Practice site unavailable or absent?'.
[Sources]
Find Your Future (Irving ISD / Hats &amp; Ladders, ©2026), printed pp. 28-29; district-licensed workbook page images from the CCE Canvas course, not for public distribution. Paws &amp; Claws Pet Supply (Hats &amp; Ladders practice site) (https://pawsandclaws.hatsandladders.com), screenshot captured 2026-09-15; UI orientation only. Climber Notes: "Website Revamp" (Hats &amp; Ladders teacher deck, district-licensed), not for public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22-31 min. Release strengths first; check by asking two students to read one strength. Then release problems. Lap at minute 12 of the block: every student has five problems, not two. If the room stalls at five, project the site and ask 'what happens when you click Shop?' without answering it.
[Sources]
Find Your Future (Irving ISD / Hats &amp; Ladders, ©2026), printed pp. 28-29; district-licensed workbook page images from the CCE Canvas course, not for public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31-40 min. Model one row on the projector using a problem from a student's list (not your own). The third column is the one that matters; lap at minute 20 of the block and read that column only. A fix without a user benefit is not done. Optional scaffold Doc on the Day 2 page for students who need a worked model.
[Sources]
Find Your Future (Irving ISD / Hats &amp; Ladders, ©2026), printed pp. 28-29; district-licensed workbook page images from the CCE Canvas course, not for public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40-44 min. Four minutes is enough for boxes and labels. If time is short, the sketch is the thing to trim, never the three fixes.
[Sources]
Find Your Future (Irving ISD / Hats &amp; Ladders, ©2026), printed pp. 28-29; district-licensed workbook page images from the CCE Canvas course, not for public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44-50 min. The button opens a copy of the exit-ticket Doc. Look for list words (Confusing Navigation, Cluttered Design, Unclear Instructions) and a fix that names what the user can now do.
[Sources]
Find Your Future (Irving ISD / Hats &amp; Ladders, ©2026), printed pp. 28-29; district-licensed workbook page images from the CCE Canvas course, not for public distribution. Canvas page renders of CCE course 98060 student pages, captured 2026-09-15.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minute. Chromebooks docked. Collect nothing today; the p. 29 page and sketch go in the Major 1 folder on Day 3.
[Sources]
Find Your Future (Irving ISD / Hats &amp; Ladders, ©2026), printed pp. 28-29; district-licensed workbook page images from the CCE Canvas course, not for public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7EF"/>
        </a:solidFill>
      </p:bgPr>
    </p:bg>
    <p:spTree>
      <p:nvGrpSpPr>
        <p:cNvPr id="1" name=""/>
        <p:cNvGrpSpPr/>
        <p:nvPr/>
      </p:nvGrpSpPr>
      <p:grpSpPr>
        <a:xfrm>
          <a:off x="0" y="0"/>
          <a:ext cx="0" cy="0"/>
          <a:chOff x="0" y="0"/>
          <a:chExt cx="0" cy="0"/>
        </a:xfrm>
      </p:grpSpPr>
      <p:sp>
        <p:nvSpPr>
          <p:cNvPr id="2" name="Text 0"/>
          <p:cNvSpPr txBox="1"/>
          <p:nvPr/>
        </p:nvSpPr>
        <p:spPr>
          <a:xfrm>
            <a:off x="609600" y="1905000"/>
            <a:ext cx="10953750" cy="1143000"/>
          </a:xfrm>
          <a:prstGeom prst="rect">
            <a:avLst/>
          </a:prstGeom>
          <a:noFill/>
          <a:ln/>
        </p:spPr>
        <p:txBody>
          <a:bodyPr wrap="square" lIns="0" tIns="0" rIns="0" bIns="0" rtlCol="0" anchor="ctr"/>
          <a:lstStyle/>
          <a:p>
            <a:pPr indent="0" marL="0">
              <a:buNone/>
            </a:pPr>
            <a:r>
              <a:rPr lang="en-US" sz="6000" b="1" dirty="0">
                <a:solidFill>
                  <a:srgbClr val="191919"/>
                </a:solidFill>
                <a:latin typeface="Arial Black" pitchFamily="34" charset="0"/>
                <a:ea typeface="Arial Black" pitchFamily="34" charset="-122"/>
                <a:cs typeface="Arial Black" pitchFamily="34" charset="-120"/>
              </a:rPr>
              <a:t>Website Revamp</a:t>
            </a:r>
            <a:endParaRPr lang="en-US" sz="6000" dirty="0"/>
          </a:p>
        </p:txBody>
      </p:sp>
      <p:sp>
        <p:nvSpPr>
          <p:cNvPr id="3" name="Text 1"/>
          <p:cNvSpPr txBox="1"/>
          <p:nvPr/>
        </p:nvSpPr>
        <p:spPr>
          <a:xfrm>
            <a:off x="628650" y="3143250"/>
            <a:ext cx="10477500" cy="571500"/>
          </a:xfrm>
          <a:prstGeom prst="rect">
            <a:avLst/>
          </a:prstGeom>
          <a:noFill/>
          <a:ln/>
        </p:spPr>
        <p:txBody>
          <a:bodyPr wrap="square" lIns="0" tIns="0" rIns="0" bIns="0" rtlCol="0" anchor="ctr"/>
          <a:lstStyle/>
          <a:p>
            <a:pPr indent="0" marL="0">
              <a:buNone/>
            </a:pPr>
            <a:r>
              <a:rPr lang="en-US" sz="3000" b="1" dirty="0">
                <a:solidFill>
                  <a:srgbClr val="1955DB"/>
                </a:solidFill>
                <a:latin typeface="Arial" pitchFamily="34" charset="0"/>
                <a:ea typeface="Arial" pitchFamily="34" charset="-122"/>
                <a:cs typeface="Arial" pitchFamily="34" charset="-120"/>
              </a:rPr>
              <a:t>You are the UX designer.</a:t>
            </a:r>
            <a:endParaRPr lang="en-US" sz="3000" dirty="0"/>
          </a:p>
        </p:txBody>
      </p:sp>
      <p:sp>
        <p:nvSpPr>
          <p:cNvPr id="4" name="Text 2"/>
          <p:cNvSpPr txBox="1"/>
          <p:nvPr/>
        </p:nvSpPr>
        <p:spPr>
          <a:xfrm>
            <a:off x="628650" y="3905250"/>
            <a:ext cx="10477500" cy="381000"/>
          </a:xfrm>
          <a:prstGeom prst="rect">
            <a:avLst/>
          </a:prstGeom>
          <a:noFill/>
          <a:ln/>
        </p:spPr>
        <p:txBody>
          <a:bodyPr wrap="square" lIns="0" tIns="0" rIns="0" bIns="0" rtlCol="0" anchor="ctr"/>
          <a:lstStyle/>
          <a:p>
            <a:pPr indent="0" marL="0">
              <a:buNone/>
            </a:pPr>
            <a:r>
              <a:rPr lang="en-US" sz="2200" dirty="0">
                <a:solidFill>
                  <a:srgbClr val="191919"/>
                </a:solidFill>
                <a:latin typeface="Arial" pitchFamily="34" charset="0"/>
                <a:ea typeface="Arial" pitchFamily="34" charset="-122"/>
                <a:cs typeface="Arial" pitchFamily="34" charset="-120"/>
              </a:rPr>
              <a:t>College and Career Exploration · Week 3 · Day 2</a:t>
            </a:r>
            <a:endParaRPr lang="en-US" sz="2200" dirty="0"/>
          </a:p>
        </p:txBody>
      </p:sp>
      <p:sp>
        <p:nvSpPr>
          <p:cNvPr id="5" name="Text 3"/>
          <p:cNvSpPr txBox="1"/>
          <p:nvPr/>
        </p:nvSpPr>
        <p:spPr>
          <a:xfrm>
            <a:off x="628650" y="4476750"/>
            <a:ext cx="10477500" cy="571500"/>
          </a:xfrm>
          <a:prstGeom prst="rect">
            <a:avLst/>
          </a:prstGeom>
          <a:noFill/>
          <a:ln/>
        </p:spPr>
        <p:txBody>
          <a:bodyPr wrap="square" lIns="0" tIns="0" rIns="0" bIns="0" rtlCol="0" anchor="ctr"/>
          <a:lstStyle/>
          <a:p>
            <a:pPr indent="0" marL="0">
              <a:buNone/>
            </a:pPr>
            <a:r>
              <a:rPr lang="en-US" sz="2000" dirty="0">
                <a:solidFill>
                  <a:srgbClr val="5F6368"/>
                </a:solidFill>
                <a:latin typeface="Arial" pitchFamily="34" charset="0"/>
                <a:ea typeface="Arial" pitchFamily="34" charset="-122"/>
                <a:cs typeface="Arial" pitchFamily="34" charset="-120"/>
              </a:rPr>
              <a:t>Bring your Find Your Future workbook (open to p. 28), a pencil, and your Chromebook (closed until we need it).</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EF"/>
        </a:solidFill>
      </p:bgPr>
    </p:bg>
    <p:spTree>
      <p:nvGrpSpPr>
        <p:cNvPr id="1" name=""/>
        <p:cNvGrpSpPr/>
        <p:nvPr/>
      </p:nvGrpSpPr>
      <p:grpSpPr>
        <a:xfrm>
          <a:off x="0" y="0"/>
          <a:ext cx="0" cy="0"/>
          <a:chOff x="0" y="0"/>
          <a:chExt cx="0" cy="0"/>
        </a:xfrm>
      </p:grpSpPr>
      <p:sp>
        <p:nvSpPr>
          <p:cNvPr id="2" name="Text 0"/>
          <p:cNvSpPr txBox="1"/>
          <p:nvPr/>
        </p:nvSpPr>
        <p:spPr>
          <a:xfrm>
            <a:off x="609600" y="361950"/>
            <a:ext cx="10953750" cy="914400"/>
          </a:xfrm>
          <a:prstGeom prst="rect">
            <a:avLst/>
          </a:prstGeom>
          <a:noFill/>
          <a:ln/>
        </p:spPr>
        <p:txBody>
          <a:bodyPr wrap="square" lIns="0" tIns="0" rIns="0" bIns="0" rtlCol="0" anchor="ctr"/>
          <a:lstStyle/>
          <a:p>
            <a:pPr indent="0" marL="0">
              <a:buNone/>
            </a:pPr>
            <a:r>
              <a:rPr lang="en-US" sz="4200" b="1" dirty="0">
                <a:solidFill>
                  <a:srgbClr val="191919"/>
                </a:solidFill>
                <a:latin typeface="Arial Black" pitchFamily="34" charset="0"/>
                <a:ea typeface="Arial Black" pitchFamily="34" charset="-122"/>
                <a:cs typeface="Arial Black" pitchFamily="34" charset="-120"/>
              </a:rPr>
              <a:t>As you enter</a:t>
            </a:r>
            <a:endParaRPr lang="en-US" sz="4200" dirty="0"/>
          </a:p>
        </p:txBody>
      </p:sp>
      <p:sp>
        <p:nvSpPr>
          <p:cNvPr id="3" name="Shape 1"/>
          <p:cNvSpPr/>
          <p:nvPr/>
        </p:nvSpPr>
        <p:spPr>
          <a:xfrm>
            <a:off x="609600" y="1905000"/>
            <a:ext cx="10972800" cy="1809750"/>
          </a:xfrm>
          <a:prstGeom prst="rect">
            <a:avLst/>
          </a:prstGeom>
          <a:solidFill>
            <a:srgbClr val="FFFFFF"/>
          </a:solidFill>
          <a:ln w="12700">
            <a:solidFill>
              <a:srgbClr val="FFFFFF"/>
            </a:solidFill>
            <a:prstDash val="solid"/>
          </a:ln>
        </p:spPr>
      </p:sp>
      <p:sp>
        <p:nvSpPr>
          <p:cNvPr id="4" name="Text 2"/>
          <p:cNvSpPr txBox="1"/>
          <p:nvPr/>
        </p:nvSpPr>
        <p:spPr>
          <a:xfrm>
            <a:off x="876300" y="2133600"/>
            <a:ext cx="10477500" cy="1428750"/>
          </a:xfrm>
          <a:prstGeom prst="rect">
            <a:avLst/>
          </a:prstGeom>
          <a:noFill/>
          <a:ln/>
        </p:spPr>
        <p:txBody>
          <a:bodyPr wrap="square" lIns="0" tIns="0" rIns="0" bIns="0" rtlCol="0" anchor="t"/>
          <a:lstStyle/>
          <a:p>
            <a:pPr indent="0" marL="0">
              <a:buNone/>
            </a:pPr>
            <a:r>
              <a:rPr lang="en-US" sz="2800" b="1" dirty="0">
                <a:solidFill>
                  <a:srgbClr val="191919"/>
                </a:solidFill>
                <a:latin typeface="Arial" pitchFamily="34" charset="0"/>
                <a:ea typeface="Arial" pitchFamily="34" charset="-122"/>
                <a:cs typeface="Arial" pitchFamily="34" charset="-120"/>
              </a:rPr>
              <a:t>Pick the BEST website you have ever used and the WORST one.</a:t>
            </a:r>
            <a:endParaRPr lang="en-US" sz="2800" dirty="0"/>
          </a:p>
          <a:p>
            <a:pPr indent="0" marL="0">
              <a:buNone/>
            </a:pPr>
            <a:r>
              <a:rPr lang="en-US" sz="2800" b="1" dirty="0">
                <a:solidFill>
                  <a:srgbClr val="191919"/>
                </a:solidFill>
                <a:latin typeface="Arial" pitchFamily="34" charset="0"/>
                <a:ea typeface="Arial" pitchFamily="34" charset="-122"/>
                <a:cs typeface="Arial" pitchFamily="34" charset="-120"/>
              </a:rPr>
              <a:t>What made the good one good? What made the bad one bad?</a:t>
            </a:r>
            <a:endParaRPr lang="en-US" sz="2800" dirty="0"/>
          </a:p>
        </p:txBody>
      </p:sp>
      <p:sp>
        <p:nvSpPr>
          <p:cNvPr id="5" name="Text 3"/>
          <p:cNvSpPr txBox="1"/>
          <p:nvPr/>
        </p:nvSpPr>
        <p:spPr>
          <a:xfrm>
            <a:off x="609600" y="4095750"/>
            <a:ext cx="5715000" cy="400050"/>
          </a:xfrm>
          <a:prstGeom prst="rect">
            <a:avLst/>
          </a:prstGeom>
          <a:noFill/>
          <a:ln/>
        </p:spPr>
        <p:txBody>
          <a:bodyPr wrap="square" lIns="0" tIns="0" rIns="0" bIns="0" rtlCol="0" anchor="ctr"/>
          <a:lstStyle/>
          <a:p>
            <a:pPr indent="0" marL="0">
              <a:buNone/>
            </a:pPr>
            <a:r>
              <a:rPr lang="en-US" sz="2300" b="1" dirty="0">
                <a:solidFill>
                  <a:srgbClr val="1955DB"/>
                </a:solidFill>
                <a:latin typeface="Arial Black" pitchFamily="34" charset="0"/>
                <a:ea typeface="Arial Black" pitchFamily="34" charset="-122"/>
                <a:cs typeface="Arial Black" pitchFamily="34" charset="-120"/>
              </a:rPr>
              <a:t>Say it like this</a:t>
            </a:r>
            <a:endParaRPr lang="en-US" sz="2300" dirty="0"/>
          </a:p>
        </p:txBody>
      </p:sp>
      <p:sp>
        <p:nvSpPr>
          <p:cNvPr id="6" name="Text 4"/>
          <p:cNvSpPr txBox="1"/>
          <p:nvPr/>
        </p:nvSpPr>
        <p:spPr>
          <a:xfrm>
            <a:off x="609600" y="4533900"/>
            <a:ext cx="10953750" cy="571500"/>
          </a:xfrm>
          <a:prstGeom prst="rect">
            <a:avLst/>
          </a:prstGeom>
          <a:noFill/>
          <a:ln/>
        </p:spPr>
        <p:txBody>
          <a:bodyPr wrap="square" lIns="0" tIns="0" rIns="0" bIns="0" rtlCol="0" anchor="t"/>
          <a:lstStyle/>
          <a:p>
            <a:pPr indent="0" marL="0">
              <a:buNone/>
            </a:pPr>
            <a:r>
              <a:rPr lang="en-US" sz="2200" dirty="0">
                <a:solidFill>
                  <a:srgbClr val="191919"/>
                </a:solidFill>
                <a:latin typeface="Arial" pitchFamily="34" charset="0"/>
                <a:ea typeface="Arial" pitchFamily="34" charset="-122"/>
                <a:cs typeface="Arial" pitchFamily="34" charset="-120"/>
              </a:rPr>
              <a:t>The best site I use is ________ because I can ________ fast.</a:t>
            </a:r>
            <a:endParaRPr lang="en-US" sz="2200" dirty="0"/>
          </a:p>
          <a:p>
            <a:pPr indent="0" marL="0">
              <a:buNone/>
            </a:pPr>
            <a:r>
              <a:rPr lang="en-US" sz="2200" dirty="0">
                <a:solidFill>
                  <a:srgbClr val="191919"/>
                </a:solidFill>
                <a:latin typeface="Arial" pitchFamily="34" charset="0"/>
                <a:ea typeface="Arial" pitchFamily="34" charset="-122"/>
                <a:cs typeface="Arial" pitchFamily="34" charset="-120"/>
              </a:rPr>
              <a:t>The worst is ________ because I could not find ________.</a:t>
            </a:r>
            <a:endParaRPr lang="en-US" sz="2200" dirty="0"/>
          </a:p>
        </p:txBody>
      </p:sp>
      <p:sp>
        <p:nvSpPr>
          <p:cNvPr id="7" name="Text 5"/>
          <p:cNvSpPr txBox="1"/>
          <p:nvPr/>
        </p:nvSpPr>
        <p:spPr>
          <a:xfrm>
            <a:off x="609600" y="5715000"/>
            <a:ext cx="10953750" cy="381000"/>
          </a:xfrm>
          <a:prstGeom prst="rect">
            <a:avLst/>
          </a:prstGeom>
          <a:noFill/>
          <a:ln/>
        </p:spPr>
        <p:txBody>
          <a:bodyPr wrap="square" lIns="0" tIns="0" rIns="0" bIns="0" rtlCol="0" anchor="t"/>
          <a:lstStyle/>
          <a:p>
            <a:pPr indent="0" marL="0">
              <a:buNone/>
            </a:pPr>
            <a:r>
              <a:rPr lang="en-US" sz="1700" dirty="0">
                <a:solidFill>
                  <a:srgbClr val="5F6368"/>
                </a:solidFill>
                <a:latin typeface="Arial" pitchFamily="34" charset="0"/>
                <a:ea typeface="Arial" pitchFamily="34" charset="-122"/>
                <a:cs typeface="Arial" pitchFamily="34" charset="-120"/>
              </a:rPr>
              <a:t>Write one of each in your notebook. Two people share.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EF"/>
        </a:solidFill>
      </p:bgPr>
    </p:bg>
    <p:spTree>
      <p:nvGrpSpPr>
        <p:cNvPr id="1" name=""/>
        <p:cNvGrpSpPr/>
        <p:nvPr/>
      </p:nvGrpSpPr>
      <p:grpSpPr>
        <a:xfrm>
          <a:off x="0" y="0"/>
          <a:ext cx="0" cy="0"/>
          <a:chOff x="0" y="0"/>
          <a:chExt cx="0" cy="0"/>
        </a:xfrm>
      </p:grpSpPr>
      <p:sp>
        <p:nvSpPr>
          <p:cNvPr id="2" name="Text 0"/>
          <p:cNvSpPr txBox="1"/>
          <p:nvPr/>
        </p:nvSpPr>
        <p:spPr>
          <a:xfrm>
            <a:off x="609600" y="361950"/>
            <a:ext cx="10953750" cy="914400"/>
          </a:xfrm>
          <a:prstGeom prst="rect">
            <a:avLst/>
          </a:prstGeom>
          <a:noFill/>
          <a:ln/>
        </p:spPr>
        <p:txBody>
          <a:bodyPr wrap="square" lIns="0" tIns="0" rIns="0" bIns="0" rtlCol="0" anchor="ctr"/>
          <a:lstStyle/>
          <a:p>
            <a:pPr indent="0" marL="0">
              <a:buNone/>
            </a:pPr>
            <a:r>
              <a:rPr lang="en-US" sz="4200" b="1" dirty="0">
                <a:solidFill>
                  <a:srgbClr val="191919"/>
                </a:solidFill>
                <a:latin typeface="Arial Black" pitchFamily="34" charset="0"/>
                <a:ea typeface="Arial Black" pitchFamily="34" charset="-122"/>
                <a:cs typeface="Arial Black" pitchFamily="34" charset="-120"/>
              </a:rPr>
              <a:t>Today you will</a:t>
            </a:r>
            <a:endParaRPr lang="en-US" sz="4200" dirty="0"/>
          </a:p>
        </p:txBody>
      </p:sp>
      <p:sp>
        <p:nvSpPr>
          <p:cNvPr id="3" name="Shape 1"/>
          <p:cNvSpPr/>
          <p:nvPr/>
        </p:nvSpPr>
        <p:spPr>
          <a:xfrm>
            <a:off x="609600" y="1952625"/>
            <a:ext cx="10972800" cy="819150"/>
          </a:xfrm>
          <a:prstGeom prst="rect">
            <a:avLst/>
          </a:prstGeom>
          <a:solidFill>
            <a:srgbClr val="FFFFFF"/>
          </a:solidFill>
          <a:ln w="12700">
            <a:solidFill>
              <a:srgbClr val="FFFFFF"/>
            </a:solidFill>
            <a:prstDash val="solid"/>
          </a:ln>
        </p:spPr>
      </p:sp>
      <p:sp>
        <p:nvSpPr>
          <p:cNvPr id="4" name="Shape 2"/>
          <p:cNvSpPr/>
          <p:nvPr/>
        </p:nvSpPr>
        <p:spPr>
          <a:xfrm>
            <a:off x="800100" y="2105025"/>
            <a:ext cx="457200" cy="457200"/>
          </a:xfrm>
          <a:prstGeom prst="ellipse">
            <a:avLst/>
          </a:prstGeom>
          <a:solidFill>
            <a:srgbClr val="1955DB"/>
          </a:solidFill>
          <a:ln w="12700">
            <a:solidFill>
              <a:srgbClr val="1955DB"/>
            </a:solidFill>
            <a:prstDash val="solid"/>
          </a:ln>
        </p:spPr>
      </p:sp>
      <p:sp>
        <p:nvSpPr>
          <p:cNvPr id="5" name="Text 3"/>
          <p:cNvSpPr txBox="1"/>
          <p:nvPr/>
        </p:nvSpPr>
        <p:spPr>
          <a:xfrm>
            <a:off x="800100" y="2105025"/>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1</a:t>
            </a:r>
            <a:endParaRPr lang="en-US" sz="2000" dirty="0"/>
          </a:p>
        </p:txBody>
      </p:sp>
      <p:sp>
        <p:nvSpPr>
          <p:cNvPr id="6" name="Text 4"/>
          <p:cNvSpPr txBox="1"/>
          <p:nvPr/>
        </p:nvSpPr>
        <p:spPr>
          <a:xfrm>
            <a:off x="1447800" y="2066925"/>
            <a:ext cx="9925050" cy="628650"/>
          </a:xfrm>
          <a:prstGeom prst="rect">
            <a:avLst/>
          </a:prstGeom>
          <a:noFill/>
          <a:ln/>
        </p:spPr>
        <p:txBody>
          <a:bodyPr wrap="square" lIns="0" tIns="0" rIns="0" bIns="0" rtlCol="0" anchor="ctr"/>
          <a:lstStyle/>
          <a:p>
            <a:pPr indent="0" marL="0">
              <a:buNone/>
            </a:pPr>
            <a:r>
              <a:rPr lang="en-US" sz="2400" dirty="0">
                <a:solidFill>
                  <a:srgbClr val="191919"/>
                </a:solidFill>
                <a:latin typeface="Arial" pitchFamily="34" charset="0"/>
                <a:ea typeface="Arial" pitchFamily="34" charset="-122"/>
                <a:cs typeface="Arial" pitchFamily="34" charset="-120"/>
              </a:rPr>
              <a:t>Learn what good and bad UX look like (p. 28).</a:t>
            </a:r>
            <a:endParaRPr lang="en-US" sz="2400" dirty="0"/>
          </a:p>
        </p:txBody>
      </p:sp>
      <p:sp>
        <p:nvSpPr>
          <p:cNvPr id="7" name="Shape 5"/>
          <p:cNvSpPr/>
          <p:nvPr/>
        </p:nvSpPr>
        <p:spPr>
          <a:xfrm>
            <a:off x="609600" y="2905125"/>
            <a:ext cx="10972800" cy="819150"/>
          </a:xfrm>
          <a:prstGeom prst="rect">
            <a:avLst/>
          </a:prstGeom>
          <a:solidFill>
            <a:srgbClr val="FFFFFF"/>
          </a:solidFill>
          <a:ln w="12700">
            <a:solidFill>
              <a:srgbClr val="FFFFFF"/>
            </a:solidFill>
            <a:prstDash val="solid"/>
          </a:ln>
        </p:spPr>
      </p:sp>
      <p:sp>
        <p:nvSpPr>
          <p:cNvPr id="8" name="Shape 6"/>
          <p:cNvSpPr/>
          <p:nvPr/>
        </p:nvSpPr>
        <p:spPr>
          <a:xfrm>
            <a:off x="800100" y="3057525"/>
            <a:ext cx="457200" cy="457200"/>
          </a:xfrm>
          <a:prstGeom prst="ellipse">
            <a:avLst/>
          </a:prstGeom>
          <a:solidFill>
            <a:srgbClr val="1955DB"/>
          </a:solidFill>
          <a:ln w="12700">
            <a:solidFill>
              <a:srgbClr val="1955DB"/>
            </a:solidFill>
            <a:prstDash val="solid"/>
          </a:ln>
        </p:spPr>
      </p:sp>
      <p:sp>
        <p:nvSpPr>
          <p:cNvPr id="9" name="Text 7"/>
          <p:cNvSpPr txBox="1"/>
          <p:nvPr/>
        </p:nvSpPr>
        <p:spPr>
          <a:xfrm>
            <a:off x="800100" y="3057525"/>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2</a:t>
            </a:r>
            <a:endParaRPr lang="en-US" sz="2000" dirty="0"/>
          </a:p>
        </p:txBody>
      </p:sp>
      <p:sp>
        <p:nvSpPr>
          <p:cNvPr id="10" name="Text 8"/>
          <p:cNvSpPr txBox="1"/>
          <p:nvPr/>
        </p:nvSpPr>
        <p:spPr>
          <a:xfrm>
            <a:off x="1447800" y="3019425"/>
            <a:ext cx="9925050" cy="628650"/>
          </a:xfrm>
          <a:prstGeom prst="rect">
            <a:avLst/>
          </a:prstGeom>
          <a:noFill/>
          <a:ln/>
        </p:spPr>
        <p:txBody>
          <a:bodyPr wrap="square" lIns="0" tIns="0" rIns="0" bIns="0" rtlCol="0" anchor="ctr"/>
          <a:lstStyle/>
          <a:p>
            <a:pPr indent="0" marL="0">
              <a:buNone/>
            </a:pPr>
            <a:r>
              <a:rPr lang="en-US" sz="2400" dirty="0">
                <a:solidFill>
                  <a:srgbClr val="191919"/>
                </a:solidFill>
                <a:latin typeface="Arial" pitchFamily="34" charset="0"/>
                <a:ea typeface="Arial" pitchFamily="34" charset="-122"/>
                <a:cs typeface="Arial" pitchFamily="34" charset="-120"/>
              </a:rPr>
              <a:t>Investigate a real practice website and catch your first reactions on sticky notes.</a:t>
            </a:r>
            <a:endParaRPr lang="en-US" sz="2400" dirty="0"/>
          </a:p>
        </p:txBody>
      </p:sp>
      <p:sp>
        <p:nvSpPr>
          <p:cNvPr id="11" name="Shape 9"/>
          <p:cNvSpPr/>
          <p:nvPr/>
        </p:nvSpPr>
        <p:spPr>
          <a:xfrm>
            <a:off x="609600" y="3857625"/>
            <a:ext cx="10972800" cy="819150"/>
          </a:xfrm>
          <a:prstGeom prst="rect">
            <a:avLst/>
          </a:prstGeom>
          <a:solidFill>
            <a:srgbClr val="FFFFFF"/>
          </a:solidFill>
          <a:ln w="12700">
            <a:solidFill>
              <a:srgbClr val="FFFFFF"/>
            </a:solidFill>
            <a:prstDash val="solid"/>
          </a:ln>
        </p:spPr>
      </p:sp>
      <p:sp>
        <p:nvSpPr>
          <p:cNvPr id="12" name="Shape 10"/>
          <p:cNvSpPr/>
          <p:nvPr/>
        </p:nvSpPr>
        <p:spPr>
          <a:xfrm>
            <a:off x="800100" y="4010025"/>
            <a:ext cx="457200" cy="457200"/>
          </a:xfrm>
          <a:prstGeom prst="ellipse">
            <a:avLst/>
          </a:prstGeom>
          <a:solidFill>
            <a:srgbClr val="1955DB"/>
          </a:solidFill>
          <a:ln w="12700">
            <a:solidFill>
              <a:srgbClr val="1955DB"/>
            </a:solidFill>
            <a:prstDash val="solid"/>
          </a:ln>
        </p:spPr>
      </p:sp>
      <p:sp>
        <p:nvSpPr>
          <p:cNvPr id="13" name="Text 11"/>
          <p:cNvSpPr txBox="1"/>
          <p:nvPr/>
        </p:nvSpPr>
        <p:spPr>
          <a:xfrm>
            <a:off x="800100" y="4010025"/>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3</a:t>
            </a:r>
            <a:endParaRPr lang="en-US" sz="2000" dirty="0"/>
          </a:p>
        </p:txBody>
      </p:sp>
      <p:sp>
        <p:nvSpPr>
          <p:cNvPr id="14" name="Text 12"/>
          <p:cNvSpPr txBox="1"/>
          <p:nvPr/>
        </p:nvSpPr>
        <p:spPr>
          <a:xfrm>
            <a:off x="1447800" y="3971925"/>
            <a:ext cx="9925050" cy="628650"/>
          </a:xfrm>
          <a:prstGeom prst="rect">
            <a:avLst/>
          </a:prstGeom>
          <a:noFill/>
          <a:ln/>
        </p:spPr>
        <p:txBody>
          <a:bodyPr wrap="square" lIns="0" tIns="0" rIns="0" bIns="0" rtlCol="0" anchor="ctr"/>
          <a:lstStyle/>
          <a:p>
            <a:pPr indent="0" marL="0">
              <a:buNone/>
            </a:pPr>
            <a:r>
              <a:rPr lang="en-US" sz="2400" dirty="0">
                <a:solidFill>
                  <a:srgbClr val="191919"/>
                </a:solidFill>
                <a:latin typeface="Arial" pitchFamily="34" charset="0"/>
                <a:ea typeface="Arial" pitchFamily="34" charset="-122"/>
                <a:cs typeface="Arial" pitchFamily="34" charset="-120"/>
              </a:rPr>
              <a:t>List 3 things that work and 5 problems, then fix 3 of them (p. 29).</a:t>
            </a:r>
            <a:endParaRPr lang="en-US" sz="2400" dirty="0"/>
          </a:p>
        </p:txBody>
      </p:sp>
      <p:sp>
        <p:nvSpPr>
          <p:cNvPr id="15" name="Shape 13"/>
          <p:cNvSpPr/>
          <p:nvPr/>
        </p:nvSpPr>
        <p:spPr>
          <a:xfrm>
            <a:off x="609600" y="4810125"/>
            <a:ext cx="10972800" cy="819150"/>
          </a:xfrm>
          <a:prstGeom prst="rect">
            <a:avLst/>
          </a:prstGeom>
          <a:solidFill>
            <a:srgbClr val="FFFFFF"/>
          </a:solidFill>
          <a:ln w="12700">
            <a:solidFill>
              <a:srgbClr val="FFFFFF"/>
            </a:solidFill>
            <a:prstDash val="solid"/>
          </a:ln>
        </p:spPr>
      </p:sp>
      <p:sp>
        <p:nvSpPr>
          <p:cNvPr id="16" name="Shape 14"/>
          <p:cNvSpPr/>
          <p:nvPr/>
        </p:nvSpPr>
        <p:spPr>
          <a:xfrm>
            <a:off x="800100" y="4962525"/>
            <a:ext cx="457200" cy="457200"/>
          </a:xfrm>
          <a:prstGeom prst="ellipse">
            <a:avLst/>
          </a:prstGeom>
          <a:solidFill>
            <a:srgbClr val="1955DB"/>
          </a:solidFill>
          <a:ln w="12700">
            <a:solidFill>
              <a:srgbClr val="1955DB"/>
            </a:solidFill>
            <a:prstDash val="solid"/>
          </a:ln>
        </p:spPr>
      </p:sp>
      <p:sp>
        <p:nvSpPr>
          <p:cNvPr id="17" name="Text 15"/>
          <p:cNvSpPr txBox="1"/>
          <p:nvPr/>
        </p:nvSpPr>
        <p:spPr>
          <a:xfrm>
            <a:off x="800100" y="4962525"/>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4</a:t>
            </a:r>
            <a:endParaRPr lang="en-US" sz="2000" dirty="0"/>
          </a:p>
        </p:txBody>
      </p:sp>
      <p:sp>
        <p:nvSpPr>
          <p:cNvPr id="18" name="Text 16"/>
          <p:cNvSpPr txBox="1"/>
          <p:nvPr/>
        </p:nvSpPr>
        <p:spPr>
          <a:xfrm>
            <a:off x="1447800" y="4924425"/>
            <a:ext cx="9925050" cy="628650"/>
          </a:xfrm>
          <a:prstGeom prst="rect">
            <a:avLst/>
          </a:prstGeom>
          <a:noFill/>
          <a:ln/>
        </p:spPr>
        <p:txBody>
          <a:bodyPr wrap="square" lIns="0" tIns="0" rIns="0" bIns="0" rtlCol="0" anchor="ctr"/>
          <a:lstStyle/>
          <a:p>
            <a:pPr indent="0" marL="0">
              <a:buNone/>
            </a:pPr>
            <a:r>
              <a:rPr lang="en-US" sz="2400" dirty="0">
                <a:solidFill>
                  <a:srgbClr val="191919"/>
                </a:solidFill>
                <a:latin typeface="Arial" pitchFamily="34" charset="0"/>
                <a:ea typeface="Arial" pitchFamily="34" charset="-122"/>
                <a:cs typeface="Arial" pitchFamily="34" charset="-120"/>
              </a:rPr>
              <a:t>Sketch a better version of one page, then finish the Rosa exit ticket.</a:t>
            </a:r>
            <a:endParaRPr lang="en-US" sz="2400" dirty="0"/>
          </a:p>
        </p:txBody>
      </p:sp>
      <p:sp>
        <p:nvSpPr>
          <p:cNvPr id="19" name="Text 17"/>
          <p:cNvSpPr txBox="1"/>
          <p:nvPr/>
        </p:nvSpPr>
        <p:spPr>
          <a:xfrm>
            <a:off x="609600" y="5953125"/>
            <a:ext cx="10953750" cy="381000"/>
          </a:xfrm>
          <a:prstGeom prst="rect">
            <a:avLst/>
          </a:prstGeom>
          <a:noFill/>
          <a:ln/>
        </p:spPr>
        <p:txBody>
          <a:bodyPr wrap="square" lIns="0" tIns="0" rIns="0" bIns="0" rtlCol="0" anchor="t"/>
          <a:lstStyle/>
          <a:p>
            <a:pPr indent="0" marL="0">
              <a:buNone/>
            </a:pPr>
            <a:r>
              <a:rPr lang="en-US" sz="1700" dirty="0">
                <a:solidFill>
                  <a:srgbClr val="5F6368"/>
                </a:solidFill>
                <a:latin typeface="Arial" pitchFamily="34" charset="0"/>
                <a:ea typeface="Arial" pitchFamily="34" charset="-122"/>
                <a:cs typeface="Arial" pitchFamily="34" charset="-120"/>
              </a:rPr>
              <a:t>Word of the day: UX (user experience). How a website makes you feel while you use it.</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EF"/>
        </a:solidFill>
      </p:bgPr>
    </p:bg>
    <p:spTree>
      <p:nvGrpSpPr>
        <p:cNvPr id="1" name=""/>
        <p:cNvGrpSpPr/>
        <p:nvPr/>
      </p:nvGrpSpPr>
      <p:grpSpPr>
        <a:xfrm>
          <a:off x="0" y="0"/>
          <a:ext cx="0" cy="0"/>
          <a:chOff x="0" y="0"/>
          <a:chExt cx="0" cy="0"/>
        </a:xfrm>
      </p:grpSpPr>
      <p:sp>
        <p:nvSpPr>
          <p:cNvPr id="2" name="Text 0"/>
          <p:cNvSpPr txBox="1"/>
          <p:nvPr/>
        </p:nvSpPr>
        <p:spPr>
          <a:xfrm>
            <a:off x="609600" y="361950"/>
            <a:ext cx="10953750" cy="914400"/>
          </a:xfrm>
          <a:prstGeom prst="rect">
            <a:avLst/>
          </a:prstGeom>
          <a:noFill/>
          <a:ln/>
        </p:spPr>
        <p:txBody>
          <a:bodyPr wrap="square" lIns="0" tIns="0" rIns="0" bIns="0" rtlCol="0" anchor="ctr"/>
          <a:lstStyle/>
          <a:p>
            <a:pPr indent="0" marL="0">
              <a:buNone/>
            </a:pPr>
            <a:r>
              <a:rPr lang="en-US" sz="4200" b="1" dirty="0">
                <a:solidFill>
                  <a:srgbClr val="191919"/>
                </a:solidFill>
                <a:latin typeface="Arial Black" pitchFamily="34" charset="0"/>
                <a:ea typeface="Arial Black" pitchFamily="34" charset="-122"/>
                <a:cs typeface="Arial Black" pitchFamily="34" charset="-120"/>
              </a:rPr>
              <a:t>Good UX, bad UX</a:t>
            </a:r>
            <a:endParaRPr lang="en-US" sz="4200" dirty="0"/>
          </a:p>
        </p:txBody>
      </p:sp>
      <p:sp>
        <p:nvSpPr>
          <p:cNvPr id="3" name="Text 1"/>
          <p:cNvSpPr txBox="1"/>
          <p:nvPr/>
        </p:nvSpPr>
        <p:spPr>
          <a:xfrm>
            <a:off x="628650" y="1295400"/>
            <a:ext cx="10915650" cy="476250"/>
          </a:xfrm>
          <a:prstGeom prst="rect">
            <a:avLst/>
          </a:prstGeom>
          <a:noFill/>
          <a:ln/>
        </p:spPr>
        <p:txBody>
          <a:bodyPr wrap="square" lIns="0" tIns="0" rIns="0" bIns="0" rtlCol="0" anchor="ctr"/>
          <a:lstStyle/>
          <a:p>
            <a:pPr indent="0" marL="0">
              <a:buNone/>
            </a:pPr>
            <a:r>
              <a:rPr lang="en-US" sz="2100" dirty="0">
                <a:solidFill>
                  <a:srgbClr val="191919"/>
                </a:solidFill>
                <a:latin typeface="Arial" pitchFamily="34" charset="0"/>
                <a:ea typeface="Arial" pitchFamily="34" charset="-122"/>
                <a:cs typeface="Arial" pitchFamily="34" charset="-120"/>
              </a:rPr>
              <a:t>Find Your Future p. 28 · Step 1</a:t>
            </a:r>
            <a:endParaRPr lang="en-US" sz="2100" dirty="0"/>
          </a:p>
        </p:txBody>
      </p:sp>
      <p:sp>
        <p:nvSpPr>
          <p:cNvPr id="4" name="Shape 2"/>
          <p:cNvSpPr/>
          <p:nvPr/>
        </p:nvSpPr>
        <p:spPr>
          <a:xfrm>
            <a:off x="609600" y="1905000"/>
            <a:ext cx="6667500" cy="3886200"/>
          </a:xfrm>
          <a:prstGeom prst="rect">
            <a:avLst/>
          </a:prstGeom>
          <a:solidFill>
            <a:srgbClr val="FFFFFF"/>
          </a:solidFill>
          <a:ln w="12700">
            <a:solidFill>
              <a:srgbClr val="FFFFFF"/>
            </a:solidFill>
            <a:prstDash val="solid"/>
          </a:ln>
        </p:spPr>
      </p:sp>
      <p:sp>
        <p:nvSpPr>
          <p:cNvPr id="5" name="Text 3"/>
          <p:cNvSpPr txBox="1"/>
          <p:nvPr/>
        </p:nvSpPr>
        <p:spPr>
          <a:xfrm>
            <a:off x="800100" y="2095500"/>
            <a:ext cx="6286500" cy="3505200"/>
          </a:xfrm>
          <a:prstGeom prst="rect">
            <a:avLst/>
          </a:prstGeom>
          <a:noFill/>
          <a:ln/>
        </p:spPr>
        <p:txBody>
          <a:bodyPr wrap="square" lIns="0" tIns="0" rIns="0" bIns="0" rtlCol="0" anchor="ctr"/>
          <a:lstStyle/>
          <a:p>
            <a:pPr algn="ctr" indent="0" marL="0">
              <a:buNone/>
            </a:pPr>
            <a:r>
              <a:rPr lang="en-US" sz="2200" b="1" dirty="0">
                <a:solidFill>
                  <a:srgbClr val="5F6368"/>
                </a:solidFill>
                <a:latin typeface="Arial" pitchFamily="34" charset="0"/>
                <a:ea typeface="Arial" pitchFamily="34" charset="-122"/>
                <a:cs typeface="Arial" pitchFamily="34" charset="-120"/>
              </a:rPr>
              <a:t>Find Your Future</a:t>
            </a:r>
            <a:endParaRPr lang="en-US" sz="2200" dirty="0"/>
          </a:p>
          <a:p>
            <a:pPr algn="ctr" indent="0" marL="0">
              <a:buNone/>
            </a:pPr>
            <a:r>
              <a:rPr lang="en-US" sz="2200" b="1" dirty="0">
                <a:solidFill>
                  <a:srgbClr val="5F6368"/>
                </a:solidFill>
                <a:latin typeface="Arial" pitchFamily="34" charset="0"/>
                <a:ea typeface="Arial" pitchFamily="34" charset="-122"/>
                <a:cs typeface="Arial" pitchFamily="34" charset="-120"/>
              </a:rPr>
              <a:t>p. 28</a:t>
            </a:r>
            <a:endParaRPr lang="en-US" sz="2200" dirty="0"/>
          </a:p>
        </p:txBody>
      </p:sp>
      <p:sp>
        <p:nvSpPr>
          <p:cNvPr id="6" name="Text 4"/>
          <p:cNvSpPr txBox="1"/>
          <p:nvPr/>
        </p:nvSpPr>
        <p:spPr>
          <a:xfrm>
            <a:off x="609600" y="5848350"/>
            <a:ext cx="6667500" cy="381000"/>
          </a:xfrm>
          <a:prstGeom prst="rect">
            <a:avLst/>
          </a:prstGeom>
          <a:noFill/>
          <a:ln/>
        </p:spPr>
        <p:txBody>
          <a:bodyPr wrap="square" lIns="0" tIns="0" rIns="0" bIns="0" rtlCol="0" anchor="t"/>
          <a:lstStyle/>
          <a:p>
            <a:pPr indent="0" marL="0">
              <a:buNone/>
            </a:pPr>
            <a:r>
              <a:rPr lang="en-US" sz="1500" dirty="0">
                <a:solidFill>
                  <a:srgbClr val="5F6368"/>
                </a:solidFill>
                <a:latin typeface="Arial" pitchFamily="34" charset="0"/>
                <a:ea typeface="Arial" pitchFamily="34" charset="-122"/>
                <a:cs typeface="Arial" pitchFamily="34" charset="-120"/>
              </a:rPr>
              <a:t>Read along on p. 28</a:t>
            </a:r>
            <a:endParaRPr lang="en-US" sz="1500" dirty="0"/>
          </a:p>
        </p:txBody>
      </p:sp>
      <p:sp>
        <p:nvSpPr>
          <p:cNvPr id="7" name="Shape 5"/>
          <p:cNvSpPr/>
          <p:nvPr/>
        </p:nvSpPr>
        <p:spPr>
          <a:xfrm>
            <a:off x="7620000" y="1905000"/>
            <a:ext cx="3962400" cy="3886200"/>
          </a:xfrm>
          <a:prstGeom prst="rect">
            <a:avLst/>
          </a:prstGeom>
          <a:solidFill>
            <a:srgbClr val="FFFFFF"/>
          </a:solidFill>
          <a:ln w="12700">
            <a:solidFill>
              <a:srgbClr val="FFFFFF"/>
            </a:solidFill>
            <a:prstDash val="solid"/>
          </a:ln>
        </p:spPr>
      </p:sp>
      <p:sp>
        <p:nvSpPr>
          <p:cNvPr id="8" name="Text 6"/>
          <p:cNvSpPr txBox="1"/>
          <p:nvPr/>
        </p:nvSpPr>
        <p:spPr>
          <a:xfrm>
            <a:off x="7848600" y="2038350"/>
            <a:ext cx="3619500" cy="400050"/>
          </a:xfrm>
          <a:prstGeom prst="rect">
            <a:avLst/>
          </a:prstGeom>
          <a:noFill/>
          <a:ln/>
        </p:spPr>
        <p:txBody>
          <a:bodyPr wrap="square" lIns="0" tIns="0" rIns="0" bIns="0" rtlCol="0" anchor="ctr"/>
          <a:lstStyle/>
          <a:p>
            <a:pPr indent="0" marL="0">
              <a:buNone/>
            </a:pPr>
            <a:r>
              <a:rPr lang="en-US" sz="2300" b="1" dirty="0">
                <a:solidFill>
                  <a:srgbClr val="1E7A46"/>
                </a:solidFill>
                <a:latin typeface="Arial Black" pitchFamily="34" charset="0"/>
                <a:ea typeface="Arial Black" pitchFamily="34" charset="-122"/>
                <a:cs typeface="Arial Black" pitchFamily="34" charset="-120"/>
              </a:rPr>
              <a:t>Good UX</a:t>
            </a:r>
            <a:endParaRPr lang="en-US" sz="2300" dirty="0"/>
          </a:p>
        </p:txBody>
      </p:sp>
      <p:sp>
        <p:nvSpPr>
          <p:cNvPr id="9" name="Text 7"/>
          <p:cNvSpPr txBox="1"/>
          <p:nvPr/>
        </p:nvSpPr>
        <p:spPr>
          <a:xfrm>
            <a:off x="7848600" y="2457450"/>
            <a:ext cx="3524250" cy="1143000"/>
          </a:xfrm>
          <a:prstGeom prst="rect">
            <a:avLst/>
          </a:prstGeom>
          <a:noFill/>
          <a:ln/>
        </p:spPr>
        <p:txBody>
          <a:bodyPr wrap="square" lIns="0" tIns="0" rIns="0" bIns="0" rtlCol="0" anchor="t"/>
          <a:lstStyle/>
          <a:p>
            <a:pPr indent="0" marL="0">
              <a:buNone/>
            </a:pPr>
            <a:r>
              <a:rPr lang="en-US" sz="1800" dirty="0">
                <a:solidFill>
                  <a:srgbClr val="191919"/>
                </a:solidFill>
                <a:latin typeface="Arial" pitchFamily="34" charset="0"/>
                <a:ea typeface="Arial" pitchFamily="34" charset="-122"/>
                <a:cs typeface="Arial" pitchFamily="34" charset="-120"/>
              </a:rPr>
              <a:t>Menus are labeled.</a:t>
            </a:r>
            <a:endParaRPr lang="en-US" sz="1800" dirty="0"/>
          </a:p>
          <a:p>
            <a:pPr indent="0" marL="0">
              <a:buNone/>
            </a:pPr>
            <a:r>
              <a:rPr lang="en-US" sz="1800" dirty="0">
                <a:solidFill>
                  <a:srgbClr val="191919"/>
                </a:solidFill>
                <a:latin typeface="Arial" pitchFamily="34" charset="0"/>
                <a:ea typeface="Arial" pitchFamily="34" charset="-122"/>
                <a:cs typeface="Arial" pitchFamily="34" charset="-120"/>
              </a:rPr>
              <a:t>Buttons stand out and do what they say.</a:t>
            </a:r>
            <a:endParaRPr lang="en-US" sz="1800" dirty="0"/>
          </a:p>
          <a:p>
            <a:pPr indent="0" marL="0">
              <a:buNone/>
            </a:pPr>
            <a:r>
              <a:rPr lang="en-US" sz="1800" dirty="0">
                <a:solidFill>
                  <a:srgbClr val="191919"/>
                </a:solidFill>
                <a:latin typeface="Arial" pitchFamily="34" charset="0"/>
                <a:ea typeface="Arial" pitchFamily="34" charset="-122"/>
                <a:cs typeface="Arial" pitchFamily="34" charset="-120"/>
              </a:rPr>
              <a:t>You finish in a few steps.</a:t>
            </a:r>
            <a:endParaRPr lang="en-US" sz="1800" dirty="0"/>
          </a:p>
        </p:txBody>
      </p:sp>
      <p:sp>
        <p:nvSpPr>
          <p:cNvPr id="10" name="Text 8"/>
          <p:cNvSpPr txBox="1"/>
          <p:nvPr/>
        </p:nvSpPr>
        <p:spPr>
          <a:xfrm>
            <a:off x="7848600" y="3733800"/>
            <a:ext cx="3619500" cy="400050"/>
          </a:xfrm>
          <a:prstGeom prst="rect">
            <a:avLst/>
          </a:prstGeom>
          <a:noFill/>
          <a:ln/>
        </p:spPr>
        <p:txBody>
          <a:bodyPr wrap="square" lIns="0" tIns="0" rIns="0" bIns="0" rtlCol="0" anchor="ctr"/>
          <a:lstStyle/>
          <a:p>
            <a:pPr indent="0" marL="0">
              <a:buNone/>
            </a:pPr>
            <a:r>
              <a:rPr lang="en-US" sz="2300" b="1" dirty="0">
                <a:solidFill>
                  <a:srgbClr val="D71A65"/>
                </a:solidFill>
                <a:latin typeface="Arial Black" pitchFamily="34" charset="0"/>
                <a:ea typeface="Arial Black" pitchFamily="34" charset="-122"/>
                <a:cs typeface="Arial Black" pitchFamily="34" charset="-120"/>
              </a:rPr>
              <a:t>Bad UX</a:t>
            </a:r>
            <a:endParaRPr lang="en-US" sz="2300" dirty="0"/>
          </a:p>
        </p:txBody>
      </p:sp>
      <p:sp>
        <p:nvSpPr>
          <p:cNvPr id="11" name="Text 9"/>
          <p:cNvSpPr txBox="1"/>
          <p:nvPr/>
        </p:nvSpPr>
        <p:spPr>
          <a:xfrm>
            <a:off x="7848600" y="4152900"/>
            <a:ext cx="3524250" cy="1524000"/>
          </a:xfrm>
          <a:prstGeom prst="rect">
            <a:avLst/>
          </a:prstGeom>
          <a:noFill/>
          <a:ln/>
        </p:spPr>
        <p:txBody>
          <a:bodyPr wrap="square" lIns="0" tIns="0" rIns="0" bIns="0" rtlCol="0" anchor="t"/>
          <a:lstStyle/>
          <a:p>
            <a:pPr indent="0" marL="0">
              <a:buNone/>
            </a:pPr>
            <a:r>
              <a:rPr lang="en-US" sz="1800" dirty="0">
                <a:solidFill>
                  <a:srgbClr val="191919"/>
                </a:solidFill>
                <a:latin typeface="Arial" pitchFamily="34" charset="0"/>
                <a:ea typeface="Arial" pitchFamily="34" charset="-122"/>
                <a:cs typeface="Arial" pitchFamily="34" charset="-120"/>
              </a:rPr>
              <a:t>Links are hidden.</a:t>
            </a:r>
            <a:endParaRPr lang="en-US" sz="1800" dirty="0"/>
          </a:p>
          <a:p>
            <a:pPr indent="0" marL="0">
              <a:buNone/>
            </a:pPr>
            <a:r>
              <a:rPr lang="en-US" sz="1800" dirty="0">
                <a:solidFill>
                  <a:srgbClr val="191919"/>
                </a:solidFill>
                <a:latin typeface="Arial" pitchFamily="34" charset="0"/>
                <a:ea typeface="Arial" pitchFamily="34" charset="-122"/>
                <a:cs typeface="Arial" pitchFamily="34" charset="-120"/>
              </a:rPr>
              <a:t>Too much stuff on the page.</a:t>
            </a:r>
            <a:endParaRPr lang="en-US" sz="1800" dirty="0"/>
          </a:p>
          <a:p>
            <a:pPr indent="0" marL="0">
              <a:buNone/>
            </a:pPr>
            <a:r>
              <a:rPr lang="en-US" sz="1800" dirty="0">
                <a:solidFill>
                  <a:srgbClr val="191919"/>
                </a:solidFill>
                <a:latin typeface="Arial" pitchFamily="34" charset="0"/>
                <a:ea typeface="Arial" pitchFamily="34" charset="-122"/>
                <a:cs typeface="Arial" pitchFamily="34" charset="-120"/>
              </a:rPr>
              <a:t>Buttons with confusing names.</a:t>
            </a:r>
            <a:endParaRPr lang="en-US" sz="1800" dirty="0"/>
          </a:p>
          <a:p>
            <a:pPr indent="0" marL="0">
              <a:buNone/>
            </a:pPr>
            <a:r>
              <a:rPr lang="en-US" sz="1800" dirty="0">
                <a:solidFill>
                  <a:srgbClr val="191919"/>
                </a:solidFill>
                <a:latin typeface="Arial" pitchFamily="34" charset="0"/>
                <a:ea typeface="Arial" pitchFamily="34" charset="-122"/>
                <a:cs typeface="Arial" pitchFamily="34" charset="-120"/>
              </a:rPr>
              <a:t>Broken or slow pages.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EF"/>
        </a:solidFill>
      </p:bgPr>
    </p:bg>
    <p:spTree>
      <p:nvGrpSpPr>
        <p:cNvPr id="1" name=""/>
        <p:cNvGrpSpPr/>
        <p:nvPr/>
      </p:nvGrpSpPr>
      <p:grpSpPr>
        <a:xfrm>
          <a:off x="0" y="0"/>
          <a:ext cx="0" cy="0"/>
          <a:chOff x="0" y="0"/>
          <a:chExt cx="0" cy="0"/>
        </a:xfrm>
      </p:grpSpPr>
      <p:sp>
        <p:nvSpPr>
          <p:cNvPr id="2" name="Text 0"/>
          <p:cNvSpPr txBox="1"/>
          <p:nvPr/>
        </p:nvSpPr>
        <p:spPr>
          <a:xfrm>
            <a:off x="609600" y="361950"/>
            <a:ext cx="10953750" cy="914400"/>
          </a:xfrm>
          <a:prstGeom prst="rect">
            <a:avLst/>
          </a:prstGeom>
          <a:noFill/>
          <a:ln/>
        </p:spPr>
        <p:txBody>
          <a:bodyPr wrap="square" lIns="0" tIns="0" rIns="0" bIns="0" rtlCol="0" anchor="ctr"/>
          <a:lstStyle/>
          <a:p>
            <a:pPr indent="0" marL="0">
              <a:buNone/>
            </a:pPr>
            <a:r>
              <a:rPr lang="en-US" sz="4200" b="1" dirty="0">
                <a:solidFill>
                  <a:srgbClr val="191919"/>
                </a:solidFill>
                <a:latin typeface="Arial Black" pitchFamily="34" charset="0"/>
                <a:ea typeface="Arial Black" pitchFamily="34" charset="-122"/>
                <a:cs typeface="Arial Black" pitchFamily="34" charset="-120"/>
              </a:rPr>
              <a:t>Investigate the website</a:t>
            </a:r>
            <a:endParaRPr lang="en-US" sz="4200" dirty="0"/>
          </a:p>
        </p:txBody>
      </p:sp>
      <p:sp>
        <p:nvSpPr>
          <p:cNvPr id="3" name="Text 1"/>
          <p:cNvSpPr txBox="1"/>
          <p:nvPr/>
        </p:nvSpPr>
        <p:spPr>
          <a:xfrm>
            <a:off x="628650" y="1295400"/>
            <a:ext cx="10915650" cy="476250"/>
          </a:xfrm>
          <a:prstGeom prst="rect">
            <a:avLst/>
          </a:prstGeom>
          <a:noFill/>
          <a:ln/>
        </p:spPr>
        <p:txBody>
          <a:bodyPr wrap="square" lIns="0" tIns="0" rIns="0" bIns="0" rtlCol="0" anchor="ctr"/>
          <a:lstStyle/>
          <a:p>
            <a:pPr indent="0" marL="0">
              <a:buNone/>
            </a:pPr>
            <a:r>
              <a:rPr lang="en-US" sz="2100" dirty="0">
                <a:solidFill>
                  <a:srgbClr val="191919"/>
                </a:solidFill>
                <a:latin typeface="Arial" pitchFamily="34" charset="0"/>
                <a:ea typeface="Arial" pitchFamily="34" charset="-122"/>
                <a:cs typeface="Arial" pitchFamily="34" charset="-120"/>
              </a:rPr>
              <a:t>Find Your Future p. 28 · Step 2 · pawsandclaws.hatsandladders.com</a:t>
            </a:r>
            <a:endParaRPr lang="en-US" sz="2100" dirty="0"/>
          </a:p>
        </p:txBody>
      </p:sp>
      <p:pic>
        <p:nvPicPr>
          <p:cNvPr id="4" name="Image 0" descr="/home/claude/cce/build/slides/1sw-wk3/assets/paws-home.jpg">    </p:cNvPr>
          <p:cNvPicPr>
            <a:picLocks noChangeAspect="1"/>
          </p:cNvPicPr>
          <p:nvPr/>
        </p:nvPicPr>
        <p:blipFill>
          <a:blip r:embed="rId1"/>
          <a:stretch>
            <a:fillRect/>
          </a:stretch>
        </p:blipFill>
        <p:spPr>
          <a:xfrm>
            <a:off x="609600" y="1905000"/>
            <a:ext cx="6572250" cy="3257550"/>
          </a:xfrm>
          <a:prstGeom prst="rect">
            <a:avLst/>
          </a:prstGeom>
        </p:spPr>
      </p:pic>
      <p:sp>
        <p:nvSpPr>
          <p:cNvPr id="5" name="Text 2"/>
          <p:cNvSpPr txBox="1"/>
          <p:nvPr/>
        </p:nvSpPr>
        <p:spPr>
          <a:xfrm>
            <a:off x="609600" y="5219700"/>
            <a:ext cx="6572250" cy="381000"/>
          </a:xfrm>
          <a:prstGeom prst="rect">
            <a:avLst/>
          </a:prstGeom>
          <a:noFill/>
          <a:ln/>
        </p:spPr>
        <p:txBody>
          <a:bodyPr wrap="square" lIns="0" tIns="0" rIns="0" bIns="0" rtlCol="0" anchor="t"/>
          <a:lstStyle/>
          <a:p>
            <a:pPr indent="0" marL="0">
              <a:buNone/>
            </a:pPr>
            <a:r>
              <a:rPr lang="en-US" sz="1500" dirty="0">
                <a:solidFill>
                  <a:srgbClr val="5F6368"/>
                </a:solidFill>
                <a:latin typeface="Arial" pitchFamily="34" charset="0"/>
                <a:ea typeface="Arial" pitchFamily="34" charset="-122"/>
                <a:cs typeface="Arial" pitchFamily="34" charset="-120"/>
              </a:rPr>
              <a:t>Paws &amp; Claws Pet Supply. Type the address exactly. You are a customer trying to buy something.</a:t>
            </a:r>
            <a:endParaRPr lang="en-US" sz="1500" dirty="0"/>
          </a:p>
        </p:txBody>
      </p:sp>
      <p:sp>
        <p:nvSpPr>
          <p:cNvPr id="6" name="Shape 3"/>
          <p:cNvSpPr/>
          <p:nvPr/>
        </p:nvSpPr>
        <p:spPr>
          <a:xfrm>
            <a:off x="7524750" y="1905000"/>
            <a:ext cx="4057650" cy="3257550"/>
          </a:xfrm>
          <a:prstGeom prst="rect">
            <a:avLst/>
          </a:prstGeom>
          <a:solidFill>
            <a:srgbClr val="FFFFFF"/>
          </a:solidFill>
          <a:ln w="12700">
            <a:solidFill>
              <a:srgbClr val="FFFFFF"/>
            </a:solidFill>
            <a:prstDash val="solid"/>
          </a:ln>
        </p:spPr>
      </p:sp>
      <p:sp>
        <p:nvSpPr>
          <p:cNvPr id="7" name="Text 4"/>
          <p:cNvSpPr txBox="1"/>
          <p:nvPr/>
        </p:nvSpPr>
        <p:spPr>
          <a:xfrm>
            <a:off x="7753350" y="2038350"/>
            <a:ext cx="3714750" cy="400050"/>
          </a:xfrm>
          <a:prstGeom prst="rect">
            <a:avLst/>
          </a:prstGeom>
          <a:noFill/>
          <a:ln/>
        </p:spPr>
        <p:txBody>
          <a:bodyPr wrap="square" lIns="0" tIns="0" rIns="0" bIns="0" rtlCol="0" anchor="ctr"/>
          <a:lstStyle/>
          <a:p>
            <a:pPr indent="0" marL="0">
              <a:buNone/>
            </a:pPr>
            <a:r>
              <a:rPr lang="en-US" sz="2300" b="1" dirty="0">
                <a:solidFill>
                  <a:srgbClr val="1955DB"/>
                </a:solidFill>
                <a:latin typeface="Arial Black" pitchFamily="34" charset="0"/>
                <a:ea typeface="Arial Black" pitchFamily="34" charset="-122"/>
                <a:cs typeface="Arial Black" pitchFamily="34" charset="-120"/>
              </a:rPr>
              <a:t>Stop and Jot</a:t>
            </a:r>
            <a:endParaRPr lang="en-US" sz="2300" dirty="0"/>
          </a:p>
        </p:txBody>
      </p:sp>
      <p:sp>
        <p:nvSpPr>
          <p:cNvPr id="8" name="Text 5"/>
          <p:cNvSpPr txBox="1"/>
          <p:nvPr/>
        </p:nvSpPr>
        <p:spPr>
          <a:xfrm>
            <a:off x="7753350" y="2476500"/>
            <a:ext cx="3619500" cy="1143000"/>
          </a:xfrm>
          <a:prstGeom prst="rect">
            <a:avLst/>
          </a:prstGeom>
          <a:noFill/>
          <a:ln/>
        </p:spPr>
        <p:txBody>
          <a:bodyPr wrap="square" lIns="0" tIns="0" rIns="0" bIns="0" rtlCol="0" anchor="t"/>
          <a:lstStyle/>
          <a:p>
            <a:pPr indent="0" marL="0">
              <a:buNone/>
            </a:pPr>
            <a:r>
              <a:rPr lang="en-US" sz="1900" dirty="0">
                <a:solidFill>
                  <a:srgbClr val="191919"/>
                </a:solidFill>
                <a:latin typeface="Arial" pitchFamily="34" charset="0"/>
                <a:ea typeface="Arial" pitchFamily="34" charset="-122"/>
                <a:cs typeface="Arial" pitchFamily="34" charset="-120"/>
              </a:rPr>
              <a:t>90 seconds. Click around. Do not list anything yet.</a:t>
            </a:r>
            <a:endParaRPr lang="en-US" sz="1900" dirty="0"/>
          </a:p>
          <a:p>
            <a:pPr indent="0" marL="0">
              <a:buNone/>
            </a:pPr>
            <a:endParaRPr lang="en-US" sz="1900" dirty="0"/>
          </a:p>
          <a:p>
            <a:pPr indent="0" marL="0">
              <a:buNone/>
            </a:pPr>
            <a:r>
              <a:rPr lang="en-US" sz="1900" dirty="0">
                <a:solidFill>
                  <a:srgbClr val="191919"/>
                </a:solidFill>
                <a:latin typeface="Arial" pitchFamily="34" charset="0"/>
                <a:ea typeface="Arial" pitchFamily="34" charset="-122"/>
                <a:cs typeface="Arial" pitchFamily="34" charset="-120"/>
              </a:rPr>
              <a:t>One thought per sticky note.</a:t>
            </a:r>
            <a:endParaRPr lang="en-US" sz="1900" dirty="0"/>
          </a:p>
        </p:txBody>
      </p:sp>
      <p:sp>
        <p:nvSpPr>
          <p:cNvPr id="9" name="Text 6"/>
          <p:cNvSpPr txBox="1"/>
          <p:nvPr/>
        </p:nvSpPr>
        <p:spPr>
          <a:xfrm>
            <a:off x="7753350" y="3619500"/>
            <a:ext cx="3619500" cy="1428750"/>
          </a:xfrm>
          <a:prstGeom prst="rect">
            <a:avLst/>
          </a:prstGeom>
          <a:noFill/>
          <a:ln/>
        </p:spPr>
        <p:txBody>
          <a:bodyPr wrap="square" lIns="0" tIns="0" rIns="0" bIns="0" rtlCol="0" anchor="t"/>
          <a:lstStyle/>
          <a:p>
            <a:pPr indent="0" marL="0">
              <a:buNone/>
            </a:pPr>
            <a:r>
              <a:rPr lang="en-US" sz="2000" b="1" dirty="0">
                <a:solidFill>
                  <a:srgbClr val="191919"/>
                </a:solidFill>
                <a:latin typeface="Arial" pitchFamily="34" charset="0"/>
                <a:ea typeface="Arial" pitchFamily="34" charset="-122"/>
                <a:cs typeface="Arial" pitchFamily="34" charset="-120"/>
              </a:rPr>
              <a:t>The first thing I tried to do was ________.</a:t>
            </a:r>
            <a:endParaRPr lang="en-US" sz="2000" dirty="0"/>
          </a:p>
          <a:p>
            <a:pPr indent="0" marL="0">
              <a:buNone/>
            </a:pPr>
            <a:endParaRPr lang="en-US" sz="2000" dirty="0"/>
          </a:p>
          <a:p>
            <a:pPr indent="0" marL="0">
              <a:buNone/>
            </a:pPr>
            <a:r>
              <a:rPr lang="en-US" sz="2000" b="1" dirty="0">
                <a:solidFill>
                  <a:srgbClr val="191919"/>
                </a:solidFill>
                <a:latin typeface="Arial" pitchFamily="34" charset="0"/>
                <a:ea typeface="Arial" pitchFamily="34" charset="-122"/>
                <a:cs typeface="Arial" pitchFamily="34" charset="-120"/>
              </a:rPr>
              <a:t>I got stuck when ________.</a:t>
            </a:r>
            <a:endParaRPr lang="en-US" sz="2000" dirty="0"/>
          </a:p>
        </p:txBody>
      </p:sp>
      <p:sp>
        <p:nvSpPr>
          <p:cNvPr id="10" name="Text 7"/>
          <p:cNvSpPr txBox="1"/>
          <p:nvPr/>
        </p:nvSpPr>
        <p:spPr>
          <a:xfrm>
            <a:off x="609600" y="5715000"/>
            <a:ext cx="10953750" cy="381000"/>
          </a:xfrm>
          <a:prstGeom prst="rect">
            <a:avLst/>
          </a:prstGeom>
          <a:noFill/>
          <a:ln/>
        </p:spPr>
        <p:txBody>
          <a:bodyPr wrap="square" lIns="0" tIns="0" rIns="0" bIns="0" rtlCol="0" anchor="t"/>
          <a:lstStyle/>
          <a:p>
            <a:pPr indent="0" marL="0">
              <a:buNone/>
            </a:pPr>
            <a:r>
              <a:rPr lang="en-US" sz="1700" dirty="0">
                <a:solidFill>
                  <a:srgbClr val="5F6368"/>
                </a:solidFill>
                <a:latin typeface="Arial" pitchFamily="34" charset="0"/>
                <a:ea typeface="Arial" pitchFamily="34" charset="-122"/>
                <a:cs typeface="Arial" pitchFamily="34" charset="-120"/>
              </a:rPr>
              <a:t>5 minutes  ·  Voice 0  ·  Chromebooks open now</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EF"/>
        </a:solidFill>
      </p:bgPr>
    </p:bg>
    <p:spTree>
      <p:nvGrpSpPr>
        <p:cNvPr id="1" name=""/>
        <p:cNvGrpSpPr/>
        <p:nvPr/>
      </p:nvGrpSpPr>
      <p:grpSpPr>
        <a:xfrm>
          <a:off x="0" y="0"/>
          <a:ext cx="0" cy="0"/>
          <a:chOff x="0" y="0"/>
          <a:chExt cx="0" cy="0"/>
        </a:xfrm>
      </p:grpSpPr>
      <p:sp>
        <p:nvSpPr>
          <p:cNvPr id="2" name="Text 0"/>
          <p:cNvSpPr txBox="1"/>
          <p:nvPr/>
        </p:nvSpPr>
        <p:spPr>
          <a:xfrm>
            <a:off x="609600" y="361950"/>
            <a:ext cx="10953750" cy="914400"/>
          </a:xfrm>
          <a:prstGeom prst="rect">
            <a:avLst/>
          </a:prstGeom>
          <a:noFill/>
          <a:ln/>
        </p:spPr>
        <p:txBody>
          <a:bodyPr wrap="square" lIns="0" tIns="0" rIns="0" bIns="0" rtlCol="0" anchor="ctr"/>
          <a:lstStyle/>
          <a:p>
            <a:pPr indent="0" marL="0">
              <a:buNone/>
            </a:pPr>
            <a:r>
              <a:rPr lang="en-US" sz="4200" b="1" dirty="0">
                <a:solidFill>
                  <a:srgbClr val="191919"/>
                </a:solidFill>
                <a:latin typeface="Arial Black" pitchFamily="34" charset="0"/>
                <a:ea typeface="Arial Black" pitchFamily="34" charset="-122"/>
                <a:cs typeface="Arial Black" pitchFamily="34" charset="-120"/>
              </a:rPr>
              <a:t>Be a UX detective</a:t>
            </a:r>
            <a:endParaRPr lang="en-US" sz="4200" dirty="0"/>
          </a:p>
        </p:txBody>
      </p:sp>
      <p:sp>
        <p:nvSpPr>
          <p:cNvPr id="3" name="Text 1"/>
          <p:cNvSpPr txBox="1"/>
          <p:nvPr/>
        </p:nvSpPr>
        <p:spPr>
          <a:xfrm>
            <a:off x="628650" y="1295400"/>
            <a:ext cx="10915650" cy="476250"/>
          </a:xfrm>
          <a:prstGeom prst="rect">
            <a:avLst/>
          </a:prstGeom>
          <a:noFill/>
          <a:ln/>
        </p:spPr>
        <p:txBody>
          <a:bodyPr wrap="square" lIns="0" tIns="0" rIns="0" bIns="0" rtlCol="0" anchor="ctr"/>
          <a:lstStyle/>
          <a:p>
            <a:pPr indent="0" marL="0">
              <a:buNone/>
            </a:pPr>
            <a:r>
              <a:rPr lang="en-US" sz="2100" dirty="0">
                <a:solidFill>
                  <a:srgbClr val="191919"/>
                </a:solidFill>
                <a:latin typeface="Arial" pitchFamily="34" charset="0"/>
                <a:ea typeface="Arial" pitchFamily="34" charset="-122"/>
                <a:cs typeface="Arial" pitchFamily="34" charset="-120"/>
              </a:rPr>
              <a:t>Find Your Future p. 29 · Step 3 · Write in your workbook</a:t>
            </a:r>
            <a:endParaRPr lang="en-US" sz="2100" dirty="0"/>
          </a:p>
        </p:txBody>
      </p:sp>
      <p:sp>
        <p:nvSpPr>
          <p:cNvPr id="4" name="Shape 2"/>
          <p:cNvSpPr/>
          <p:nvPr/>
        </p:nvSpPr>
        <p:spPr>
          <a:xfrm>
            <a:off x="609600" y="1905000"/>
            <a:ext cx="4953000" cy="4286250"/>
          </a:xfrm>
          <a:prstGeom prst="rect">
            <a:avLst/>
          </a:prstGeom>
          <a:solidFill>
            <a:srgbClr val="FFFFFF"/>
          </a:solidFill>
          <a:ln w="12700">
            <a:solidFill>
              <a:srgbClr val="FFFFFF"/>
            </a:solidFill>
            <a:prstDash val="solid"/>
          </a:ln>
        </p:spPr>
      </p:sp>
      <p:sp>
        <p:nvSpPr>
          <p:cNvPr id="5" name="Text 3"/>
          <p:cNvSpPr txBox="1"/>
          <p:nvPr/>
        </p:nvSpPr>
        <p:spPr>
          <a:xfrm>
            <a:off x="800100" y="2095500"/>
            <a:ext cx="4572000" cy="3905250"/>
          </a:xfrm>
          <a:prstGeom prst="rect">
            <a:avLst/>
          </a:prstGeom>
          <a:noFill/>
          <a:ln/>
        </p:spPr>
        <p:txBody>
          <a:bodyPr wrap="square" lIns="0" tIns="0" rIns="0" bIns="0" rtlCol="0" anchor="ctr"/>
          <a:lstStyle/>
          <a:p>
            <a:pPr algn="ctr" indent="0" marL="0">
              <a:buNone/>
            </a:pPr>
            <a:r>
              <a:rPr lang="en-US" sz="2200" b="1" dirty="0">
                <a:solidFill>
                  <a:srgbClr val="5F6368"/>
                </a:solidFill>
                <a:latin typeface="Arial" pitchFamily="34" charset="0"/>
                <a:ea typeface="Arial" pitchFamily="34" charset="-122"/>
                <a:cs typeface="Arial" pitchFamily="34" charset="-120"/>
              </a:rPr>
              <a:t>Find Your Future</a:t>
            </a:r>
            <a:endParaRPr lang="en-US" sz="2200" dirty="0"/>
          </a:p>
          <a:p>
            <a:pPr algn="ctr" indent="0" marL="0">
              <a:buNone/>
            </a:pPr>
            <a:r>
              <a:rPr lang="en-US" sz="2200" b="1" dirty="0">
                <a:solidFill>
                  <a:srgbClr val="5F6368"/>
                </a:solidFill>
                <a:latin typeface="Arial" pitchFamily="34" charset="0"/>
                <a:ea typeface="Arial" pitchFamily="34" charset="-122"/>
                <a:cs typeface="Arial" pitchFamily="34" charset="-120"/>
              </a:rPr>
              <a:t>p. 29</a:t>
            </a:r>
            <a:endParaRPr lang="en-US" sz="2200" dirty="0"/>
          </a:p>
        </p:txBody>
      </p:sp>
      <p:sp>
        <p:nvSpPr>
          <p:cNvPr id="6" name="Shape 4"/>
          <p:cNvSpPr/>
          <p:nvPr/>
        </p:nvSpPr>
        <p:spPr>
          <a:xfrm>
            <a:off x="5905500" y="1905000"/>
            <a:ext cx="5676900" cy="1905000"/>
          </a:xfrm>
          <a:prstGeom prst="rect">
            <a:avLst/>
          </a:prstGeom>
          <a:solidFill>
            <a:srgbClr val="FFFFFF"/>
          </a:solidFill>
          <a:ln w="12700">
            <a:solidFill>
              <a:srgbClr val="FFFFFF"/>
            </a:solidFill>
            <a:prstDash val="solid"/>
          </a:ln>
        </p:spPr>
      </p:sp>
      <p:sp>
        <p:nvSpPr>
          <p:cNvPr id="7" name="Text 5"/>
          <p:cNvSpPr txBox="1"/>
          <p:nvPr/>
        </p:nvSpPr>
        <p:spPr>
          <a:xfrm>
            <a:off x="6134100" y="2038350"/>
            <a:ext cx="5334000" cy="400050"/>
          </a:xfrm>
          <a:prstGeom prst="rect">
            <a:avLst/>
          </a:prstGeom>
          <a:noFill/>
          <a:ln/>
        </p:spPr>
        <p:txBody>
          <a:bodyPr wrap="square" lIns="0" tIns="0" rIns="0" bIns="0" rtlCol="0" anchor="ctr"/>
          <a:lstStyle/>
          <a:p>
            <a:pPr indent="0" marL="0">
              <a:buNone/>
            </a:pPr>
            <a:r>
              <a:rPr lang="en-US" sz="2300" b="1" dirty="0">
                <a:solidFill>
                  <a:srgbClr val="1E7A46"/>
                </a:solidFill>
                <a:latin typeface="Arial Black" pitchFamily="34" charset="0"/>
                <a:ea typeface="Arial Black" pitchFamily="34" charset="-122"/>
                <a:cs typeface="Arial Black" pitchFamily="34" charset="-120"/>
              </a:rPr>
              <a:t>3 things that work</a:t>
            </a:r>
            <a:endParaRPr lang="en-US" sz="2300" dirty="0"/>
          </a:p>
        </p:txBody>
      </p:sp>
      <p:sp>
        <p:nvSpPr>
          <p:cNvPr id="8" name="Text 6"/>
          <p:cNvSpPr txBox="1"/>
          <p:nvPr/>
        </p:nvSpPr>
        <p:spPr>
          <a:xfrm>
            <a:off x="6134100" y="2476500"/>
            <a:ext cx="5238750" cy="1143000"/>
          </a:xfrm>
          <a:prstGeom prst="rect">
            <a:avLst/>
          </a:prstGeom>
          <a:noFill/>
          <a:ln/>
        </p:spPr>
        <p:txBody>
          <a:bodyPr wrap="square" lIns="0" tIns="0" rIns="0" bIns="0" rtlCol="0" anchor="t"/>
          <a:lstStyle/>
          <a:p>
            <a:pPr indent="0" marL="0">
              <a:buNone/>
            </a:pPr>
            <a:r>
              <a:rPr lang="en-US" sz="1900" dirty="0">
                <a:solidFill>
                  <a:srgbClr val="191919"/>
                </a:solidFill>
                <a:latin typeface="Arial" pitchFamily="34" charset="0"/>
                <a:ea typeface="Arial" pitchFamily="34" charset="-122"/>
                <a:cs typeface="Arial" pitchFamily="34" charset="-120"/>
              </a:rPr>
              <a:t>Something a customer can do easily. Name where it is on the page.</a:t>
            </a:r>
            <a:endParaRPr lang="en-US" sz="1900" dirty="0"/>
          </a:p>
        </p:txBody>
      </p:sp>
      <p:sp>
        <p:nvSpPr>
          <p:cNvPr id="9" name="Shape 7"/>
          <p:cNvSpPr/>
          <p:nvPr/>
        </p:nvSpPr>
        <p:spPr>
          <a:xfrm>
            <a:off x="5905500" y="4000500"/>
            <a:ext cx="5676900" cy="2190750"/>
          </a:xfrm>
          <a:prstGeom prst="rect">
            <a:avLst/>
          </a:prstGeom>
          <a:solidFill>
            <a:srgbClr val="FFFFFF"/>
          </a:solidFill>
          <a:ln w="12700">
            <a:solidFill>
              <a:srgbClr val="FFFFFF"/>
            </a:solidFill>
            <a:prstDash val="solid"/>
          </a:ln>
        </p:spPr>
      </p:sp>
      <p:sp>
        <p:nvSpPr>
          <p:cNvPr id="10" name="Text 8"/>
          <p:cNvSpPr txBox="1"/>
          <p:nvPr/>
        </p:nvSpPr>
        <p:spPr>
          <a:xfrm>
            <a:off x="6134100" y="4133850"/>
            <a:ext cx="5334000" cy="400050"/>
          </a:xfrm>
          <a:prstGeom prst="rect">
            <a:avLst/>
          </a:prstGeom>
          <a:noFill/>
          <a:ln/>
        </p:spPr>
        <p:txBody>
          <a:bodyPr wrap="square" lIns="0" tIns="0" rIns="0" bIns="0" rtlCol="0" anchor="ctr"/>
          <a:lstStyle/>
          <a:p>
            <a:pPr indent="0" marL="0">
              <a:buNone/>
            </a:pPr>
            <a:r>
              <a:rPr lang="en-US" sz="2300" b="1" dirty="0">
                <a:solidFill>
                  <a:srgbClr val="D71A65"/>
                </a:solidFill>
                <a:latin typeface="Arial Black" pitchFamily="34" charset="0"/>
                <a:ea typeface="Arial Black" pitchFamily="34" charset="-122"/>
                <a:cs typeface="Arial Black" pitchFamily="34" charset="-120"/>
              </a:rPr>
              <a:t>5 problems you can see</a:t>
            </a:r>
            <a:endParaRPr lang="en-US" sz="2300" dirty="0"/>
          </a:p>
        </p:txBody>
      </p:sp>
      <p:sp>
        <p:nvSpPr>
          <p:cNvPr id="11" name="Text 9"/>
          <p:cNvSpPr txBox="1"/>
          <p:nvPr/>
        </p:nvSpPr>
        <p:spPr>
          <a:xfrm>
            <a:off x="6134100" y="4572000"/>
            <a:ext cx="5238750" cy="1524000"/>
          </a:xfrm>
          <a:prstGeom prst="rect">
            <a:avLst/>
          </a:prstGeom>
          <a:noFill/>
          <a:ln/>
        </p:spPr>
        <p:txBody>
          <a:bodyPr wrap="square" lIns="0" tIns="0" rIns="0" bIns="0" rtlCol="0" anchor="t"/>
          <a:lstStyle/>
          <a:p>
            <a:pPr indent="0" marL="0">
              <a:buNone/>
            </a:pPr>
            <a:r>
              <a:rPr lang="en-US" sz="1800" dirty="0">
                <a:solidFill>
                  <a:srgbClr val="191919"/>
                </a:solidFill>
                <a:latin typeface="Arial" pitchFamily="34" charset="0"/>
                <a:ea typeface="Arial" pitchFamily="34" charset="-122"/>
                <a:cs typeface="Arial" pitchFamily="34" charset="-120"/>
              </a:rPr>
              <a:t>A problem is something you can point at: a button that looks different from the others, a menu that goes nowhere, a page that is mostly empty.</a:t>
            </a:r>
            <a:endParaRPr lang="en-US" sz="1800" dirty="0"/>
          </a:p>
          <a:p>
            <a:pPr indent="0" marL="0">
              <a:buNone/>
            </a:pPr>
            <a:r>
              <a:rPr lang="en-US" sz="1800" dirty="0">
                <a:solidFill>
                  <a:srgbClr val="191919"/>
                </a:solidFill>
                <a:latin typeface="Arial" pitchFamily="34" charset="0"/>
                <a:ea typeface="Arial" pitchFamily="34" charset="-122"/>
                <a:cs typeface="Arial" pitchFamily="34" charset="-120"/>
              </a:rPr>
              <a:t>"It's ugly" is an opinion, not a problem.</a:t>
            </a:r>
            <a:endParaRPr lang="en-US" sz="1800" dirty="0"/>
          </a:p>
        </p:txBody>
      </p:sp>
      <p:sp>
        <p:nvSpPr>
          <p:cNvPr id="12" name="Text 10"/>
          <p:cNvSpPr txBox="1"/>
          <p:nvPr/>
        </p:nvSpPr>
        <p:spPr>
          <a:xfrm>
            <a:off x="609600" y="6286500"/>
            <a:ext cx="10953750" cy="381000"/>
          </a:xfrm>
          <a:prstGeom prst="rect">
            <a:avLst/>
          </a:prstGeom>
          <a:noFill/>
          <a:ln/>
        </p:spPr>
        <p:txBody>
          <a:bodyPr wrap="square" lIns="0" tIns="0" rIns="0" bIns="0" rtlCol="0" anchor="t"/>
          <a:lstStyle/>
          <a:p>
            <a:pPr indent="0" marL="0">
              <a:buNone/>
            </a:pPr>
            <a:r>
              <a:rPr lang="en-US" sz="1700" dirty="0">
                <a:solidFill>
                  <a:srgbClr val="5F6368"/>
                </a:solidFill>
                <a:latin typeface="Arial" pitchFamily="34" charset="0"/>
                <a:ea typeface="Arial" pitchFamily="34" charset="-122"/>
                <a:cs typeface="Arial" pitchFamily="34" charset="-120"/>
              </a:rPr>
              <a:t>9 minutes  ·  strengths first, then problems  ·  Voice 0</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EF"/>
        </a:solidFill>
      </p:bgPr>
    </p:bg>
    <p:spTree>
      <p:nvGrpSpPr>
        <p:cNvPr id="1" name=""/>
        <p:cNvGrpSpPr/>
        <p:nvPr/>
      </p:nvGrpSpPr>
      <p:grpSpPr>
        <a:xfrm>
          <a:off x="0" y="0"/>
          <a:ext cx="0" cy="0"/>
          <a:chOff x="0" y="0"/>
          <a:chExt cx="0" cy="0"/>
        </a:xfrm>
      </p:grpSpPr>
      <p:sp>
        <p:nvSpPr>
          <p:cNvPr id="2" name="Text 0"/>
          <p:cNvSpPr txBox="1"/>
          <p:nvPr/>
        </p:nvSpPr>
        <p:spPr>
          <a:xfrm>
            <a:off x="609600" y="361950"/>
            <a:ext cx="10953750" cy="914400"/>
          </a:xfrm>
          <a:prstGeom prst="rect">
            <a:avLst/>
          </a:prstGeom>
          <a:noFill/>
          <a:ln/>
        </p:spPr>
        <p:txBody>
          <a:bodyPr wrap="square" lIns="0" tIns="0" rIns="0" bIns="0" rtlCol="0" anchor="ctr"/>
          <a:lstStyle/>
          <a:p>
            <a:pPr indent="0" marL="0">
              <a:buNone/>
            </a:pPr>
            <a:r>
              <a:rPr lang="en-US" sz="4200" b="1" dirty="0">
                <a:solidFill>
                  <a:srgbClr val="191919"/>
                </a:solidFill>
                <a:latin typeface="Arial Black" pitchFamily="34" charset="0"/>
                <a:ea typeface="Arial Black" pitchFamily="34" charset="-122"/>
                <a:cs typeface="Arial Black" pitchFamily="34" charset="-120"/>
              </a:rPr>
              <a:t>Fix the problem</a:t>
            </a:r>
            <a:endParaRPr lang="en-US" sz="4200" dirty="0"/>
          </a:p>
        </p:txBody>
      </p:sp>
      <p:sp>
        <p:nvSpPr>
          <p:cNvPr id="3" name="Text 1"/>
          <p:cNvSpPr txBox="1"/>
          <p:nvPr/>
        </p:nvSpPr>
        <p:spPr>
          <a:xfrm>
            <a:off x="628650" y="1295400"/>
            <a:ext cx="10915650" cy="476250"/>
          </a:xfrm>
          <a:prstGeom prst="rect">
            <a:avLst/>
          </a:prstGeom>
          <a:noFill/>
          <a:ln/>
        </p:spPr>
        <p:txBody>
          <a:bodyPr wrap="square" lIns="0" tIns="0" rIns="0" bIns="0" rtlCol="0" anchor="ctr"/>
          <a:lstStyle/>
          <a:p>
            <a:pPr indent="0" marL="0">
              <a:buNone/>
            </a:pPr>
            <a:r>
              <a:rPr lang="en-US" sz="2100" dirty="0">
                <a:solidFill>
                  <a:srgbClr val="191919"/>
                </a:solidFill>
                <a:latin typeface="Arial" pitchFamily="34" charset="0"/>
                <a:ea typeface="Arial" pitchFamily="34" charset="-122"/>
                <a:cs typeface="Arial" pitchFamily="34" charset="-120"/>
              </a:rPr>
              <a:t>Find Your Future p. 29 · Step 4 · Choose 3 of your 5 problems</a:t>
            </a:r>
            <a:endParaRPr lang="en-US" sz="2100" dirty="0"/>
          </a:p>
        </p:txBody>
      </p:sp>
      <p:sp>
        <p:nvSpPr>
          <p:cNvPr id="4" name="Shape 2"/>
          <p:cNvSpPr/>
          <p:nvPr/>
        </p:nvSpPr>
        <p:spPr>
          <a:xfrm>
            <a:off x="609600" y="1905000"/>
            <a:ext cx="6858000" cy="2562225"/>
          </a:xfrm>
          <a:prstGeom prst="rect">
            <a:avLst/>
          </a:prstGeom>
          <a:solidFill>
            <a:srgbClr val="FFFFFF"/>
          </a:solidFill>
          <a:ln w="12700">
            <a:solidFill>
              <a:srgbClr val="FFFFFF"/>
            </a:solidFill>
            <a:prstDash val="solid"/>
          </a:ln>
        </p:spPr>
      </p:sp>
      <p:sp>
        <p:nvSpPr>
          <p:cNvPr id="5" name="Text 3"/>
          <p:cNvSpPr txBox="1"/>
          <p:nvPr/>
        </p:nvSpPr>
        <p:spPr>
          <a:xfrm>
            <a:off x="800100" y="2095500"/>
            <a:ext cx="6477000" cy="2181225"/>
          </a:xfrm>
          <a:prstGeom prst="rect">
            <a:avLst/>
          </a:prstGeom>
          <a:noFill/>
          <a:ln/>
        </p:spPr>
        <p:txBody>
          <a:bodyPr wrap="square" lIns="0" tIns="0" rIns="0" bIns="0" rtlCol="0" anchor="ctr"/>
          <a:lstStyle/>
          <a:p>
            <a:pPr algn="ctr" indent="0" marL="0">
              <a:buNone/>
            </a:pPr>
            <a:r>
              <a:rPr lang="en-US" sz="2200" b="1" dirty="0">
                <a:solidFill>
                  <a:srgbClr val="5F6368"/>
                </a:solidFill>
                <a:latin typeface="Arial" pitchFamily="34" charset="0"/>
                <a:ea typeface="Arial" pitchFamily="34" charset="-122"/>
                <a:cs typeface="Arial" pitchFamily="34" charset="-120"/>
              </a:rPr>
              <a:t>Find Your Future</a:t>
            </a:r>
            <a:endParaRPr lang="en-US" sz="2200" dirty="0"/>
          </a:p>
          <a:p>
            <a:pPr algn="ctr" indent="0" marL="0">
              <a:buNone/>
            </a:pPr>
            <a:r>
              <a:rPr lang="en-US" sz="2200" b="1" dirty="0">
                <a:solidFill>
                  <a:srgbClr val="5F6368"/>
                </a:solidFill>
                <a:latin typeface="Arial" pitchFamily="34" charset="0"/>
                <a:ea typeface="Arial" pitchFamily="34" charset="-122"/>
                <a:cs typeface="Arial" pitchFamily="34" charset="-120"/>
              </a:rPr>
              <a:t>p. 29</a:t>
            </a:r>
            <a:endParaRPr lang="en-US" sz="2200" dirty="0"/>
          </a:p>
        </p:txBody>
      </p:sp>
      <p:sp>
        <p:nvSpPr>
          <p:cNvPr id="6" name="Shape 4"/>
          <p:cNvSpPr/>
          <p:nvPr/>
        </p:nvSpPr>
        <p:spPr>
          <a:xfrm>
            <a:off x="7810500" y="1905000"/>
            <a:ext cx="3771900" cy="2562225"/>
          </a:xfrm>
          <a:prstGeom prst="rect">
            <a:avLst/>
          </a:prstGeom>
          <a:solidFill>
            <a:srgbClr val="FFFFFF"/>
          </a:solidFill>
          <a:ln w="12700">
            <a:solidFill>
              <a:srgbClr val="FFFFFF"/>
            </a:solidFill>
            <a:prstDash val="solid"/>
          </a:ln>
        </p:spPr>
      </p:sp>
      <p:sp>
        <p:nvSpPr>
          <p:cNvPr id="7" name="Text 5"/>
          <p:cNvSpPr txBox="1"/>
          <p:nvPr/>
        </p:nvSpPr>
        <p:spPr>
          <a:xfrm>
            <a:off x="8039100" y="2038350"/>
            <a:ext cx="3429000" cy="400050"/>
          </a:xfrm>
          <a:prstGeom prst="rect">
            <a:avLst/>
          </a:prstGeom>
          <a:noFill/>
          <a:ln/>
        </p:spPr>
        <p:txBody>
          <a:bodyPr wrap="square" lIns="0" tIns="0" rIns="0" bIns="0" rtlCol="0" anchor="ctr"/>
          <a:lstStyle/>
          <a:p>
            <a:pPr indent="0" marL="0">
              <a:buNone/>
            </a:pPr>
            <a:r>
              <a:rPr lang="en-US" sz="2300" b="1" dirty="0">
                <a:solidFill>
                  <a:srgbClr val="1955DB"/>
                </a:solidFill>
                <a:latin typeface="Arial Black" pitchFamily="34" charset="0"/>
                <a:ea typeface="Arial Black" pitchFamily="34" charset="-122"/>
                <a:cs typeface="Arial Black" pitchFamily="34" charset="-120"/>
              </a:rPr>
              <a:t>Each row needs</a:t>
            </a:r>
            <a:endParaRPr lang="en-US" sz="2300" dirty="0"/>
          </a:p>
        </p:txBody>
      </p:sp>
      <p:sp>
        <p:nvSpPr>
          <p:cNvPr id="8" name="Text 6"/>
          <p:cNvSpPr txBox="1"/>
          <p:nvPr/>
        </p:nvSpPr>
        <p:spPr>
          <a:xfrm>
            <a:off x="8039100" y="2457450"/>
            <a:ext cx="3333750" cy="1809750"/>
          </a:xfrm>
          <a:prstGeom prst="rect">
            <a:avLst/>
          </a:prstGeom>
          <a:noFill/>
          <a:ln/>
        </p:spPr>
        <p:txBody>
          <a:bodyPr wrap="square" lIns="0" tIns="0" rIns="0" bIns="0" rtlCol="0" anchor="t"/>
          <a:lstStyle/>
          <a:p>
            <a:pPr indent="0" marL="0">
              <a:buNone/>
            </a:pPr>
            <a:r>
              <a:rPr lang="en-US" sz="2100" dirty="0">
                <a:solidFill>
                  <a:srgbClr val="191919"/>
                </a:solidFill>
                <a:latin typeface="Arial" pitchFamily="34" charset="0"/>
                <a:ea typeface="Arial" pitchFamily="34" charset="-122"/>
                <a:cs typeface="Arial" pitchFamily="34" charset="-120"/>
              </a:rPr>
              <a:t>the problem you saw</a:t>
            </a:r>
            <a:endParaRPr lang="en-US" sz="2100" dirty="0"/>
          </a:p>
          <a:p>
            <a:pPr indent="0" marL="0">
              <a:buNone/>
            </a:pPr>
            <a:r>
              <a:rPr lang="en-US" sz="2100" dirty="0">
                <a:solidFill>
                  <a:srgbClr val="191919"/>
                </a:solidFill>
                <a:latin typeface="Arial" pitchFamily="34" charset="0"/>
                <a:ea typeface="Arial" pitchFamily="34" charset="-122"/>
                <a:cs typeface="Arial" pitchFamily="34" charset="-120"/>
              </a:rPr>
              <a:t>→ your fix</a:t>
            </a:r>
            <a:endParaRPr lang="en-US" sz="2100" dirty="0"/>
          </a:p>
          <a:p>
            <a:pPr indent="0" marL="0">
              <a:buNone/>
            </a:pPr>
            <a:r>
              <a:rPr lang="en-US" sz="2100" dirty="0">
                <a:solidFill>
                  <a:srgbClr val="191919"/>
                </a:solidFill>
                <a:latin typeface="Arial" pitchFamily="34" charset="0"/>
                <a:ea typeface="Arial" pitchFamily="34" charset="-122"/>
                <a:cs typeface="Arial" pitchFamily="34" charset="-120"/>
              </a:rPr>
              <a:t>→ what a user can now do</a:t>
            </a:r>
            <a:endParaRPr lang="en-US" sz="2100" dirty="0"/>
          </a:p>
        </p:txBody>
      </p:sp>
      <p:sp>
        <p:nvSpPr>
          <p:cNvPr id="9" name="Text 7"/>
          <p:cNvSpPr txBox="1"/>
          <p:nvPr/>
        </p:nvSpPr>
        <p:spPr>
          <a:xfrm>
            <a:off x="609600" y="4762500"/>
            <a:ext cx="5715000" cy="400050"/>
          </a:xfrm>
          <a:prstGeom prst="rect">
            <a:avLst/>
          </a:prstGeom>
          <a:noFill/>
          <a:ln/>
        </p:spPr>
        <p:txBody>
          <a:bodyPr wrap="square" lIns="0" tIns="0" rIns="0" bIns="0" rtlCol="0" anchor="ctr"/>
          <a:lstStyle/>
          <a:p>
            <a:pPr indent="0" marL="0">
              <a:buNone/>
            </a:pPr>
            <a:r>
              <a:rPr lang="en-US" sz="2300" b="1" dirty="0">
                <a:solidFill>
                  <a:srgbClr val="1955DB"/>
                </a:solidFill>
                <a:latin typeface="Arial Black" pitchFamily="34" charset="0"/>
                <a:ea typeface="Arial Black" pitchFamily="34" charset="-122"/>
                <a:cs typeface="Arial Black" pitchFamily="34" charset="-120"/>
              </a:rPr>
              <a:t>Say it like this</a:t>
            </a:r>
            <a:endParaRPr lang="en-US" sz="2300" dirty="0"/>
          </a:p>
        </p:txBody>
      </p:sp>
      <p:sp>
        <p:nvSpPr>
          <p:cNvPr id="10" name="Text 8"/>
          <p:cNvSpPr txBox="1"/>
          <p:nvPr/>
        </p:nvSpPr>
        <p:spPr>
          <a:xfrm>
            <a:off x="609600" y="5200650"/>
            <a:ext cx="10953750" cy="571500"/>
          </a:xfrm>
          <a:prstGeom prst="rect">
            <a:avLst/>
          </a:prstGeom>
          <a:noFill/>
          <a:ln/>
        </p:spPr>
        <p:txBody>
          <a:bodyPr wrap="square" lIns="0" tIns="0" rIns="0" bIns="0" rtlCol="0" anchor="t"/>
          <a:lstStyle/>
          <a:p>
            <a:pPr indent="0" marL="0">
              <a:buNone/>
            </a:pPr>
            <a:r>
              <a:rPr lang="en-US" sz="2600" dirty="0">
                <a:solidFill>
                  <a:srgbClr val="191919"/>
                </a:solidFill>
                <a:latin typeface="Arial" pitchFamily="34" charset="0"/>
                <a:ea typeface="Arial" pitchFamily="34" charset="-122"/>
                <a:cs typeface="Arial" pitchFamily="34" charset="-120"/>
              </a:rPr>
              <a:t>This helps users because they can now ________.</a:t>
            </a:r>
            <a:endParaRPr lang="en-US" sz="2600" dirty="0"/>
          </a:p>
        </p:txBody>
      </p:sp>
      <p:sp>
        <p:nvSpPr>
          <p:cNvPr id="11" name="Text 9"/>
          <p:cNvSpPr txBox="1"/>
          <p:nvPr/>
        </p:nvSpPr>
        <p:spPr>
          <a:xfrm>
            <a:off x="609600" y="5905500"/>
            <a:ext cx="10953750" cy="381000"/>
          </a:xfrm>
          <a:prstGeom prst="rect">
            <a:avLst/>
          </a:prstGeom>
          <a:noFill/>
          <a:ln/>
        </p:spPr>
        <p:txBody>
          <a:bodyPr wrap="square" lIns="0" tIns="0" rIns="0" bIns="0" rtlCol="0" anchor="t"/>
          <a:lstStyle/>
          <a:p>
            <a:pPr indent="0" marL="0">
              <a:buNone/>
            </a:pPr>
            <a:r>
              <a:rPr lang="en-US" sz="1700" dirty="0">
                <a:solidFill>
                  <a:srgbClr val="5F6368"/>
                </a:solidFill>
                <a:latin typeface="Arial" pitchFamily="34" charset="0"/>
                <a:ea typeface="Arial" pitchFamily="34" charset="-122"/>
                <a:cs typeface="Arial" pitchFamily="34" charset="-120"/>
              </a:rPr>
              <a:t>9 minutes  ·  Ask your partner at Voice 1 if you are stuck on a fix</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EF"/>
        </a:solidFill>
      </p:bgPr>
    </p:bg>
    <p:spTree>
      <p:nvGrpSpPr>
        <p:cNvPr id="1" name=""/>
        <p:cNvGrpSpPr/>
        <p:nvPr/>
      </p:nvGrpSpPr>
      <p:grpSpPr>
        <a:xfrm>
          <a:off x="0" y="0"/>
          <a:ext cx="0" cy="0"/>
          <a:chOff x="0" y="0"/>
          <a:chExt cx="0" cy="0"/>
        </a:xfrm>
      </p:grpSpPr>
      <p:sp>
        <p:nvSpPr>
          <p:cNvPr id="2" name="Text 0"/>
          <p:cNvSpPr txBox="1"/>
          <p:nvPr/>
        </p:nvSpPr>
        <p:spPr>
          <a:xfrm>
            <a:off x="609600" y="361950"/>
            <a:ext cx="10953750" cy="914400"/>
          </a:xfrm>
          <a:prstGeom prst="rect">
            <a:avLst/>
          </a:prstGeom>
          <a:noFill/>
          <a:ln/>
        </p:spPr>
        <p:txBody>
          <a:bodyPr wrap="square" lIns="0" tIns="0" rIns="0" bIns="0" rtlCol="0" anchor="ctr"/>
          <a:lstStyle/>
          <a:p>
            <a:pPr indent="0" marL="0">
              <a:buNone/>
            </a:pPr>
            <a:r>
              <a:rPr lang="en-US" sz="4200" b="1" dirty="0">
                <a:solidFill>
                  <a:srgbClr val="191919"/>
                </a:solidFill>
                <a:latin typeface="Arial Black" pitchFamily="34" charset="0"/>
                <a:ea typeface="Arial Black" pitchFamily="34" charset="-122"/>
                <a:cs typeface="Arial Black" pitchFamily="34" charset="-120"/>
              </a:rPr>
              <a:t>Sketch a better page</a:t>
            </a:r>
            <a:endParaRPr lang="en-US" sz="4200" dirty="0"/>
          </a:p>
        </p:txBody>
      </p:sp>
      <p:sp>
        <p:nvSpPr>
          <p:cNvPr id="3" name="Text 1"/>
          <p:cNvSpPr txBox="1"/>
          <p:nvPr/>
        </p:nvSpPr>
        <p:spPr>
          <a:xfrm>
            <a:off x="628650" y="1295400"/>
            <a:ext cx="10915650" cy="476250"/>
          </a:xfrm>
          <a:prstGeom prst="rect">
            <a:avLst/>
          </a:prstGeom>
          <a:noFill/>
          <a:ln/>
        </p:spPr>
        <p:txBody>
          <a:bodyPr wrap="square" lIns="0" tIns="0" rIns="0" bIns="0" rtlCol="0" anchor="ctr"/>
          <a:lstStyle/>
          <a:p>
            <a:pPr indent="0" marL="0">
              <a:buNone/>
            </a:pPr>
            <a:r>
              <a:rPr lang="en-US" sz="2100" dirty="0">
                <a:solidFill>
                  <a:srgbClr val="191919"/>
                </a:solidFill>
                <a:latin typeface="Arial" pitchFamily="34" charset="0"/>
                <a:ea typeface="Arial" pitchFamily="34" charset="-122"/>
                <a:cs typeface="Arial" pitchFamily="34" charset="-120"/>
              </a:rPr>
              <a:t>Find Your Future p. 29 · Step 5 · Plain paper</a:t>
            </a:r>
            <a:endParaRPr lang="en-US" sz="2100" dirty="0"/>
          </a:p>
        </p:txBody>
      </p:sp>
      <p:sp>
        <p:nvSpPr>
          <p:cNvPr id="4" name="Shape 2"/>
          <p:cNvSpPr/>
          <p:nvPr/>
        </p:nvSpPr>
        <p:spPr>
          <a:xfrm>
            <a:off x="609600" y="1905000"/>
            <a:ext cx="2857500" cy="2124075"/>
          </a:xfrm>
          <a:prstGeom prst="rect">
            <a:avLst/>
          </a:prstGeom>
          <a:solidFill>
            <a:srgbClr val="FFFFFF"/>
          </a:solidFill>
          <a:ln w="12700">
            <a:solidFill>
              <a:srgbClr val="FFFFFF"/>
            </a:solidFill>
            <a:prstDash val="solid"/>
          </a:ln>
        </p:spPr>
      </p:sp>
      <p:sp>
        <p:nvSpPr>
          <p:cNvPr id="5" name="Text 3"/>
          <p:cNvSpPr txBox="1"/>
          <p:nvPr/>
        </p:nvSpPr>
        <p:spPr>
          <a:xfrm>
            <a:off x="800100" y="2095500"/>
            <a:ext cx="2476500" cy="1743075"/>
          </a:xfrm>
          <a:prstGeom prst="rect">
            <a:avLst/>
          </a:prstGeom>
          <a:noFill/>
          <a:ln/>
        </p:spPr>
        <p:txBody>
          <a:bodyPr wrap="square" lIns="0" tIns="0" rIns="0" bIns="0" rtlCol="0" anchor="ctr"/>
          <a:lstStyle/>
          <a:p>
            <a:pPr algn="ctr" indent="0" marL="0">
              <a:buNone/>
            </a:pPr>
            <a:r>
              <a:rPr lang="en-US" sz="2200" b="1" dirty="0">
                <a:solidFill>
                  <a:srgbClr val="5F6368"/>
                </a:solidFill>
                <a:latin typeface="Arial" pitchFamily="34" charset="0"/>
                <a:ea typeface="Arial" pitchFamily="34" charset="-122"/>
                <a:cs typeface="Arial" pitchFamily="34" charset="-120"/>
              </a:rPr>
              <a:t>Find Your Future</a:t>
            </a:r>
            <a:endParaRPr lang="en-US" sz="2200" dirty="0"/>
          </a:p>
          <a:p>
            <a:pPr algn="ctr" indent="0" marL="0">
              <a:buNone/>
            </a:pPr>
            <a:r>
              <a:rPr lang="en-US" sz="2200" b="1" dirty="0">
                <a:solidFill>
                  <a:srgbClr val="5F6368"/>
                </a:solidFill>
                <a:latin typeface="Arial" pitchFamily="34" charset="0"/>
                <a:ea typeface="Arial" pitchFamily="34" charset="-122"/>
                <a:cs typeface="Arial" pitchFamily="34" charset="-120"/>
              </a:rPr>
              <a:t>p. 29</a:t>
            </a:r>
            <a:endParaRPr lang="en-US" sz="2200" dirty="0"/>
          </a:p>
        </p:txBody>
      </p:sp>
      <p:sp>
        <p:nvSpPr>
          <p:cNvPr id="6" name="Shape 4"/>
          <p:cNvSpPr/>
          <p:nvPr/>
        </p:nvSpPr>
        <p:spPr>
          <a:xfrm>
            <a:off x="3810000" y="1905000"/>
            <a:ext cx="7772400" cy="2124075"/>
          </a:xfrm>
          <a:prstGeom prst="rect">
            <a:avLst/>
          </a:prstGeom>
          <a:solidFill>
            <a:srgbClr val="FFFFFF"/>
          </a:solidFill>
          <a:ln w="12700">
            <a:solidFill>
              <a:srgbClr val="FFFFFF"/>
            </a:solidFill>
            <a:prstDash val="solid"/>
          </a:ln>
        </p:spPr>
      </p:sp>
      <p:sp>
        <p:nvSpPr>
          <p:cNvPr id="7" name="Text 5"/>
          <p:cNvSpPr txBox="1"/>
          <p:nvPr/>
        </p:nvSpPr>
        <p:spPr>
          <a:xfrm>
            <a:off x="4038600" y="2038350"/>
            <a:ext cx="7429500" cy="400050"/>
          </a:xfrm>
          <a:prstGeom prst="rect">
            <a:avLst/>
          </a:prstGeom>
          <a:noFill/>
          <a:ln/>
        </p:spPr>
        <p:txBody>
          <a:bodyPr wrap="square" lIns="0" tIns="0" rIns="0" bIns="0" rtlCol="0" anchor="ctr"/>
          <a:lstStyle/>
          <a:p>
            <a:pPr indent="0" marL="0">
              <a:buNone/>
            </a:pPr>
            <a:r>
              <a:rPr lang="en-US" sz="2300" b="1" dirty="0">
                <a:solidFill>
                  <a:srgbClr val="1955DB"/>
                </a:solidFill>
                <a:latin typeface="Arial Black" pitchFamily="34" charset="0"/>
                <a:ea typeface="Arial Black" pitchFamily="34" charset="-122"/>
                <a:cs typeface="Arial Black" pitchFamily="34" charset="-120"/>
              </a:rPr>
              <a:t>Pick ONE page and redraw it</a:t>
            </a:r>
            <a:endParaRPr lang="en-US" sz="2300" dirty="0"/>
          </a:p>
        </p:txBody>
      </p:sp>
      <p:sp>
        <p:nvSpPr>
          <p:cNvPr id="8" name="Text 6"/>
          <p:cNvSpPr txBox="1"/>
          <p:nvPr/>
        </p:nvSpPr>
        <p:spPr>
          <a:xfrm>
            <a:off x="4038600" y="2476500"/>
            <a:ext cx="7334250" cy="1428750"/>
          </a:xfrm>
          <a:prstGeom prst="rect">
            <a:avLst/>
          </a:prstGeom>
          <a:noFill/>
          <a:ln/>
        </p:spPr>
        <p:txBody>
          <a:bodyPr wrap="square" lIns="0" tIns="0" rIns="0" bIns="0" rtlCol="0" anchor="t"/>
          <a:lstStyle/>
          <a:p>
            <a:pPr indent="0" marL="0">
              <a:buNone/>
            </a:pPr>
            <a:r>
              <a:rPr lang="en-US" sz="2000" dirty="0">
                <a:solidFill>
                  <a:srgbClr val="191919"/>
                </a:solidFill>
                <a:latin typeface="Arial" pitchFamily="34" charset="0"/>
                <a:ea typeface="Arial" pitchFamily="34" charset="-122"/>
                <a:cs typeface="Arial" pitchFamily="34" charset="-120"/>
              </a:rPr>
              <a:t>Boxes and labels, not art. Show where the menu, the search, and the main button go.</a:t>
            </a:r>
            <a:endParaRPr lang="en-US" sz="2000" dirty="0"/>
          </a:p>
          <a:p>
            <a:pPr indent="0" marL="0">
              <a:buNone/>
            </a:pPr>
            <a:r>
              <a:rPr lang="en-US" sz="2000" dirty="0">
                <a:solidFill>
                  <a:srgbClr val="191919"/>
                </a:solidFill>
                <a:latin typeface="Arial" pitchFamily="34" charset="0"/>
                <a:ea typeface="Arial" pitchFamily="34" charset="-122"/>
                <a:cs typeface="Arial" pitchFamily="34" charset="-120"/>
              </a:rPr>
              <a:t>Circle the fix you are proudest of and write its number from Step 4 next to it.</a:t>
            </a:r>
            <a:endParaRPr lang="en-US" sz="2000" dirty="0"/>
          </a:p>
        </p:txBody>
      </p:sp>
      <p:sp>
        <p:nvSpPr>
          <p:cNvPr id="9" name="Text 7"/>
          <p:cNvSpPr txBox="1"/>
          <p:nvPr/>
        </p:nvSpPr>
        <p:spPr>
          <a:xfrm>
            <a:off x="609600" y="4286250"/>
            <a:ext cx="10953750" cy="381000"/>
          </a:xfrm>
          <a:prstGeom prst="rect">
            <a:avLst/>
          </a:prstGeom>
          <a:noFill/>
          <a:ln/>
        </p:spPr>
        <p:txBody>
          <a:bodyPr wrap="square" lIns="0" tIns="0" rIns="0" bIns="0" rtlCol="0" anchor="t"/>
          <a:lstStyle/>
          <a:p>
            <a:pPr indent="0" marL="0">
              <a:buNone/>
            </a:pPr>
            <a:r>
              <a:rPr lang="en-US" sz="1700" dirty="0">
                <a:solidFill>
                  <a:srgbClr val="5F6368"/>
                </a:solidFill>
                <a:latin typeface="Arial" pitchFamily="34" charset="0"/>
                <a:ea typeface="Arial" pitchFamily="34" charset="-122"/>
                <a:cs typeface="Arial" pitchFamily="34" charset="-120"/>
              </a:rPr>
              <a:t>4 minutes  ·  Keep the sketch. It goes in your folder with p. 29.</a:t>
            </a:r>
            <a:endParaRPr lang="en-US" sz="1700" dirty="0"/>
          </a:p>
        </p:txBody>
      </p:sp>
      <p:sp>
        <p:nvSpPr>
          <p:cNvPr id="10" name="Shape 8"/>
          <p:cNvSpPr/>
          <p:nvPr/>
        </p:nvSpPr>
        <p:spPr>
          <a:xfrm>
            <a:off x="609600" y="4857750"/>
            <a:ext cx="10972800" cy="857250"/>
          </a:xfrm>
          <a:prstGeom prst="rect">
            <a:avLst/>
          </a:prstGeom>
          <a:solidFill>
            <a:srgbClr val="F4D941"/>
          </a:solidFill>
          <a:ln w="12700">
            <a:solidFill>
              <a:srgbClr val="F4D941"/>
            </a:solidFill>
            <a:prstDash val="solid"/>
          </a:ln>
        </p:spPr>
      </p:sp>
      <p:sp>
        <p:nvSpPr>
          <p:cNvPr id="11" name="Text 9"/>
          <p:cNvSpPr txBox="1"/>
          <p:nvPr/>
        </p:nvSpPr>
        <p:spPr>
          <a:xfrm>
            <a:off x="800100" y="5010150"/>
            <a:ext cx="10591800" cy="552450"/>
          </a:xfrm>
          <a:prstGeom prst="rect">
            <a:avLst/>
          </a:prstGeom>
          <a:noFill/>
          <a:ln/>
        </p:spPr>
        <p:txBody>
          <a:bodyPr wrap="square" lIns="0" tIns="0" rIns="0" bIns="0" rtlCol="0" anchor="ctr"/>
          <a:lstStyle/>
          <a:p>
            <a:pPr indent="0" marL="0">
              <a:buNone/>
            </a:pPr>
            <a:r>
              <a:rPr lang="en-US" sz="1700" b="1" dirty="0">
                <a:solidFill>
                  <a:srgbClr val="191919"/>
                </a:solidFill>
                <a:latin typeface="Arial" pitchFamily="34" charset="0"/>
                <a:ea typeface="Arial" pitchFamily="34" charset="-122"/>
                <a:cs typeface="Arial" pitchFamily="34" charset="-120"/>
              </a:rPr>
              <a:t>Finished early? Answer one Class Discussion question from p. 29 in your notebook: which improvement would make the biggest difference, and why?</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EF"/>
        </a:solidFill>
      </p:bgPr>
    </p:bg>
    <p:spTree>
      <p:nvGrpSpPr>
        <p:cNvPr id="1" name=""/>
        <p:cNvGrpSpPr/>
        <p:nvPr/>
      </p:nvGrpSpPr>
      <p:grpSpPr>
        <a:xfrm>
          <a:off x="0" y="0"/>
          <a:ext cx="0" cy="0"/>
          <a:chOff x="0" y="0"/>
          <a:chExt cx="0" cy="0"/>
        </a:xfrm>
      </p:grpSpPr>
      <p:sp>
        <p:nvSpPr>
          <p:cNvPr id="2" name="Text 0"/>
          <p:cNvSpPr txBox="1"/>
          <p:nvPr/>
        </p:nvSpPr>
        <p:spPr>
          <a:xfrm>
            <a:off x="609600" y="361950"/>
            <a:ext cx="10953750" cy="914400"/>
          </a:xfrm>
          <a:prstGeom prst="rect">
            <a:avLst/>
          </a:prstGeom>
          <a:noFill/>
          <a:ln/>
        </p:spPr>
        <p:txBody>
          <a:bodyPr wrap="square" lIns="0" tIns="0" rIns="0" bIns="0" rtlCol="0" anchor="ctr"/>
          <a:lstStyle/>
          <a:p>
            <a:pPr indent="0" marL="0">
              <a:buNone/>
            </a:pPr>
            <a:r>
              <a:rPr lang="en-US" sz="4200" b="1" dirty="0">
                <a:solidFill>
                  <a:srgbClr val="191919"/>
                </a:solidFill>
                <a:latin typeface="Arial Black" pitchFamily="34" charset="0"/>
                <a:ea typeface="Arial Black" pitchFamily="34" charset="-122"/>
                <a:cs typeface="Arial Black" pitchFamily="34" charset="-120"/>
              </a:rPr>
              <a:t>Exit ticket: Rosa's tutoring site</a:t>
            </a:r>
            <a:endParaRPr lang="en-US" sz="4200" dirty="0"/>
          </a:p>
        </p:txBody>
      </p:sp>
      <p:sp>
        <p:nvSpPr>
          <p:cNvPr id="3" name="Text 1"/>
          <p:cNvSpPr txBox="1"/>
          <p:nvPr/>
        </p:nvSpPr>
        <p:spPr>
          <a:xfrm>
            <a:off x="628650" y="1295400"/>
            <a:ext cx="10915650" cy="476250"/>
          </a:xfrm>
          <a:prstGeom prst="rect">
            <a:avLst/>
          </a:prstGeom>
          <a:noFill/>
          <a:ln/>
        </p:spPr>
        <p:txBody>
          <a:bodyPr wrap="square" lIns="0" tIns="0" rIns="0" bIns="0" rtlCol="0" anchor="ctr"/>
          <a:lstStyle/>
          <a:p>
            <a:pPr indent="0" marL="0">
              <a:buNone/>
            </a:pPr>
            <a:r>
              <a:rPr lang="en-US" sz="2100" dirty="0">
                <a:solidFill>
                  <a:srgbClr val="191919"/>
                </a:solidFill>
                <a:latin typeface="Arial" pitchFamily="34" charset="0"/>
                <a:ea typeface="Arial" pitchFamily="34" charset="-122"/>
                <a:cs typeface="Arial" pitchFamily="34" charset="-120"/>
              </a:rPr>
              <a:t>Open the Day 2 exit ticket on the Canvas page</a:t>
            </a:r>
            <a:endParaRPr lang="en-US" sz="2100" dirty="0"/>
          </a:p>
        </p:txBody>
      </p:sp>
      <p:sp>
        <p:nvSpPr>
          <p:cNvPr id="4" name="Shape 2"/>
          <p:cNvSpPr/>
          <p:nvPr/>
        </p:nvSpPr>
        <p:spPr>
          <a:xfrm>
            <a:off x="609600" y="1905000"/>
            <a:ext cx="6858000" cy="2857500"/>
          </a:xfrm>
          <a:prstGeom prst="rect">
            <a:avLst/>
          </a:prstGeom>
          <a:solidFill>
            <a:srgbClr val="FFFFFF"/>
          </a:solidFill>
          <a:ln w="12700">
            <a:solidFill>
              <a:srgbClr val="FFFFFF"/>
            </a:solidFill>
            <a:prstDash val="solid"/>
          </a:ln>
        </p:spPr>
      </p:sp>
      <p:sp>
        <p:nvSpPr>
          <p:cNvPr id="5" name="Text 3"/>
          <p:cNvSpPr txBox="1"/>
          <p:nvPr/>
        </p:nvSpPr>
        <p:spPr>
          <a:xfrm>
            <a:off x="838200" y="2095500"/>
            <a:ext cx="6477000" cy="2571750"/>
          </a:xfrm>
          <a:prstGeom prst="rect">
            <a:avLst/>
          </a:prstGeom>
          <a:noFill/>
          <a:ln/>
        </p:spPr>
        <p:txBody>
          <a:bodyPr wrap="square" lIns="0" tIns="0" rIns="0" bIns="0" rtlCol="0" anchor="t"/>
          <a:lstStyle/>
          <a:p>
            <a:pPr indent="0" marL="0">
              <a:buNone/>
            </a:pPr>
            <a:r>
              <a:rPr lang="en-US" sz="1900" dirty="0">
                <a:solidFill>
                  <a:srgbClr val="191919"/>
                </a:solidFill>
                <a:latin typeface="Arial" pitchFamily="34" charset="0"/>
                <a:ea typeface="Arial" pitchFamily="34" charset="-122"/>
                <a:cs typeface="Arial" pitchFamily="34" charset="-120"/>
              </a:rPr>
              <a:t>Rosa is 16 and just opened a small tutoring business. Her website has one long page. The "Sign Up" button is gray and sits at the very bottom, under three paragraphs about her hobbies. The menu at the top says "Stuff," "More Stuff," and "Click Here." Parents keep phoning Rosa instead of signing up online.</a:t>
            </a:r>
            <a:endParaRPr lang="en-US" sz="1900" dirty="0"/>
          </a:p>
        </p:txBody>
      </p:sp>
      <p:pic>
        <p:nvPicPr>
          <p:cNvPr id="6" name="Image 0" descr="/home/claude/cce/build/slides/1sw-wk3/assets/cv-d2-exit.png">    </p:cNvPr>
          <p:cNvPicPr>
            <a:picLocks noChangeAspect="1"/>
          </p:cNvPicPr>
          <p:nvPr/>
        </p:nvPicPr>
        <p:blipFill>
          <a:blip r:embed="rId1"/>
          <a:stretch>
            <a:fillRect/>
          </a:stretch>
        </p:blipFill>
        <p:spPr>
          <a:xfrm>
            <a:off x="7810500" y="1905000"/>
            <a:ext cx="3771900" cy="1333500"/>
          </a:xfrm>
          <a:prstGeom prst="rect">
            <a:avLst/>
          </a:prstGeom>
        </p:spPr>
      </p:pic>
      <p:sp>
        <p:nvSpPr>
          <p:cNvPr id="7" name="Shape 4"/>
          <p:cNvSpPr/>
          <p:nvPr/>
        </p:nvSpPr>
        <p:spPr>
          <a:xfrm>
            <a:off x="7810500" y="3333750"/>
            <a:ext cx="3771900" cy="819150"/>
          </a:xfrm>
          <a:prstGeom prst="rect">
            <a:avLst/>
          </a:prstGeom>
          <a:solidFill>
            <a:srgbClr val="FFFFFF"/>
          </a:solidFill>
          <a:ln w="12700">
            <a:solidFill>
              <a:srgbClr val="FFFFFF"/>
            </a:solidFill>
            <a:prstDash val="solid"/>
          </a:ln>
        </p:spPr>
      </p:sp>
      <p:sp>
        <p:nvSpPr>
          <p:cNvPr id="8" name="Shape 5"/>
          <p:cNvSpPr/>
          <p:nvPr/>
        </p:nvSpPr>
        <p:spPr>
          <a:xfrm>
            <a:off x="8001000" y="3486150"/>
            <a:ext cx="457200" cy="457200"/>
          </a:xfrm>
          <a:prstGeom prst="ellipse">
            <a:avLst/>
          </a:prstGeom>
          <a:solidFill>
            <a:srgbClr val="1955DB"/>
          </a:solidFill>
          <a:ln w="12700">
            <a:solidFill>
              <a:srgbClr val="1955DB"/>
            </a:solidFill>
            <a:prstDash val="solid"/>
          </a:ln>
        </p:spPr>
      </p:sp>
      <p:sp>
        <p:nvSpPr>
          <p:cNvPr id="9" name="Text 6"/>
          <p:cNvSpPr txBox="1"/>
          <p:nvPr/>
        </p:nvSpPr>
        <p:spPr>
          <a:xfrm>
            <a:off x="8001000" y="348615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1</a:t>
            </a:r>
            <a:endParaRPr lang="en-US" sz="2000" dirty="0"/>
          </a:p>
        </p:txBody>
      </p:sp>
      <p:sp>
        <p:nvSpPr>
          <p:cNvPr id="10" name="Text 7"/>
          <p:cNvSpPr txBox="1"/>
          <p:nvPr/>
        </p:nvSpPr>
        <p:spPr>
          <a:xfrm>
            <a:off x="8648700" y="3448050"/>
            <a:ext cx="2724150" cy="628650"/>
          </a:xfrm>
          <a:prstGeom prst="rect">
            <a:avLst/>
          </a:prstGeom>
          <a:noFill/>
          <a:ln/>
        </p:spPr>
        <p:txBody>
          <a:bodyPr wrap="square" lIns="0" tIns="0" rIns="0" bIns="0" rtlCol="0" anchor="ctr"/>
          <a:lstStyle/>
          <a:p>
            <a:pPr indent="0" marL="0">
              <a:buNone/>
            </a:pPr>
            <a:r>
              <a:rPr lang="en-US" sz="1600" dirty="0">
                <a:solidFill>
                  <a:srgbClr val="191919"/>
                </a:solidFill>
                <a:latin typeface="Arial" pitchFamily="34" charset="0"/>
                <a:ea typeface="Arial" pitchFamily="34" charset="-122"/>
                <a:cs typeface="Arial" pitchFamily="34" charset="-120"/>
              </a:rPr>
              <a:t>Name TWO bad UX problems. Use words from today's lists.</a:t>
            </a:r>
            <a:endParaRPr lang="en-US" sz="1600" dirty="0"/>
          </a:p>
        </p:txBody>
      </p:sp>
      <p:sp>
        <p:nvSpPr>
          <p:cNvPr id="11" name="Shape 8"/>
          <p:cNvSpPr/>
          <p:nvPr/>
        </p:nvSpPr>
        <p:spPr>
          <a:xfrm>
            <a:off x="7810500" y="4286250"/>
            <a:ext cx="3771900" cy="819150"/>
          </a:xfrm>
          <a:prstGeom prst="rect">
            <a:avLst/>
          </a:prstGeom>
          <a:solidFill>
            <a:srgbClr val="FFFFFF"/>
          </a:solidFill>
          <a:ln w="12700">
            <a:solidFill>
              <a:srgbClr val="FFFFFF"/>
            </a:solidFill>
            <a:prstDash val="solid"/>
          </a:ln>
        </p:spPr>
      </p:sp>
      <p:sp>
        <p:nvSpPr>
          <p:cNvPr id="12" name="Shape 9"/>
          <p:cNvSpPr/>
          <p:nvPr/>
        </p:nvSpPr>
        <p:spPr>
          <a:xfrm>
            <a:off x="8001000" y="4438650"/>
            <a:ext cx="457200" cy="457200"/>
          </a:xfrm>
          <a:prstGeom prst="ellipse">
            <a:avLst/>
          </a:prstGeom>
          <a:solidFill>
            <a:srgbClr val="1955DB"/>
          </a:solidFill>
          <a:ln w="12700">
            <a:solidFill>
              <a:srgbClr val="1955DB"/>
            </a:solidFill>
            <a:prstDash val="solid"/>
          </a:ln>
        </p:spPr>
      </p:sp>
      <p:sp>
        <p:nvSpPr>
          <p:cNvPr id="13" name="Text 10"/>
          <p:cNvSpPr txBox="1"/>
          <p:nvPr/>
        </p:nvSpPr>
        <p:spPr>
          <a:xfrm>
            <a:off x="8001000" y="443865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2</a:t>
            </a:r>
            <a:endParaRPr lang="en-US" sz="2000" dirty="0"/>
          </a:p>
        </p:txBody>
      </p:sp>
      <p:sp>
        <p:nvSpPr>
          <p:cNvPr id="14" name="Text 11"/>
          <p:cNvSpPr txBox="1"/>
          <p:nvPr/>
        </p:nvSpPr>
        <p:spPr>
          <a:xfrm>
            <a:off x="8648700" y="4400550"/>
            <a:ext cx="2724150" cy="628650"/>
          </a:xfrm>
          <a:prstGeom prst="rect">
            <a:avLst/>
          </a:prstGeom>
          <a:noFill/>
          <a:ln/>
        </p:spPr>
        <p:txBody>
          <a:bodyPr wrap="square" lIns="0" tIns="0" rIns="0" bIns="0" rtlCol="0" anchor="ctr"/>
          <a:lstStyle/>
          <a:p>
            <a:pPr indent="0" marL="0">
              <a:buNone/>
            </a:pPr>
            <a:r>
              <a:rPr lang="en-US" sz="1600" dirty="0">
                <a:solidFill>
                  <a:srgbClr val="191919"/>
                </a:solidFill>
                <a:latin typeface="Arial" pitchFamily="34" charset="0"/>
                <a:ea typeface="Arial" pitchFamily="34" charset="-122"/>
                <a:cs typeface="Arial" pitchFamily="34" charset="-120"/>
              </a:rPr>
              <a:t>Pick one. Write your fix and how it helps users.</a:t>
            </a:r>
            <a:endParaRPr lang="en-US" sz="1600" dirty="0"/>
          </a:p>
        </p:txBody>
      </p:sp>
      <p:sp>
        <p:nvSpPr>
          <p:cNvPr id="15" name="Shape 12"/>
          <p:cNvSpPr/>
          <p:nvPr/>
        </p:nvSpPr>
        <p:spPr>
          <a:xfrm>
            <a:off x="7810500" y="5238750"/>
            <a:ext cx="3771900" cy="819150"/>
          </a:xfrm>
          <a:prstGeom prst="rect">
            <a:avLst/>
          </a:prstGeom>
          <a:solidFill>
            <a:srgbClr val="FFFFFF"/>
          </a:solidFill>
          <a:ln w="12700">
            <a:solidFill>
              <a:srgbClr val="FFFFFF"/>
            </a:solidFill>
            <a:prstDash val="solid"/>
          </a:ln>
        </p:spPr>
      </p:sp>
      <p:sp>
        <p:nvSpPr>
          <p:cNvPr id="16" name="Shape 13"/>
          <p:cNvSpPr/>
          <p:nvPr/>
        </p:nvSpPr>
        <p:spPr>
          <a:xfrm>
            <a:off x="8001000" y="5391150"/>
            <a:ext cx="457200" cy="457200"/>
          </a:xfrm>
          <a:prstGeom prst="ellipse">
            <a:avLst/>
          </a:prstGeom>
          <a:solidFill>
            <a:srgbClr val="1955DB"/>
          </a:solidFill>
          <a:ln w="12700">
            <a:solidFill>
              <a:srgbClr val="1955DB"/>
            </a:solidFill>
            <a:prstDash val="solid"/>
          </a:ln>
        </p:spPr>
      </p:sp>
      <p:sp>
        <p:nvSpPr>
          <p:cNvPr id="17" name="Text 14"/>
          <p:cNvSpPr txBox="1"/>
          <p:nvPr/>
        </p:nvSpPr>
        <p:spPr>
          <a:xfrm>
            <a:off x="8001000" y="539115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3</a:t>
            </a:r>
            <a:endParaRPr lang="en-US" sz="2000" dirty="0"/>
          </a:p>
        </p:txBody>
      </p:sp>
      <p:sp>
        <p:nvSpPr>
          <p:cNvPr id="18" name="Text 15"/>
          <p:cNvSpPr txBox="1"/>
          <p:nvPr/>
        </p:nvSpPr>
        <p:spPr>
          <a:xfrm>
            <a:off x="8648700" y="5353050"/>
            <a:ext cx="2724150" cy="628650"/>
          </a:xfrm>
          <a:prstGeom prst="rect">
            <a:avLst/>
          </a:prstGeom>
          <a:noFill/>
          <a:ln/>
        </p:spPr>
        <p:txBody>
          <a:bodyPr wrap="square" lIns="0" tIns="0" rIns="0" bIns="0" rtlCol="0" anchor="ctr"/>
          <a:lstStyle/>
          <a:p>
            <a:pPr indent="0" marL="0">
              <a:buNone/>
            </a:pPr>
            <a:r>
              <a:rPr lang="en-US" sz="1600" dirty="0">
                <a:solidFill>
                  <a:srgbClr val="191919"/>
                </a:solidFill>
                <a:latin typeface="Arial" pitchFamily="34" charset="0"/>
                <a:ea typeface="Arial" pitchFamily="34" charset="-122"/>
                <a:cs typeface="Arial" pitchFamily="34" charset="-120"/>
              </a:rPr>
              <a:t>Which fix brings Rosa the most new students? Why?</a:t>
            </a:r>
            <a:endParaRPr lang="en-US" sz="1600" dirty="0"/>
          </a:p>
        </p:txBody>
      </p:sp>
      <p:sp>
        <p:nvSpPr>
          <p:cNvPr id="19" name="Text 16"/>
          <p:cNvSpPr txBox="1"/>
          <p:nvPr/>
        </p:nvSpPr>
        <p:spPr>
          <a:xfrm>
            <a:off x="609600" y="4953000"/>
            <a:ext cx="10953750" cy="381000"/>
          </a:xfrm>
          <a:prstGeom prst="rect">
            <a:avLst/>
          </a:prstGeom>
          <a:noFill/>
          <a:ln/>
        </p:spPr>
        <p:txBody>
          <a:bodyPr wrap="square" lIns="0" tIns="0" rIns="0" bIns="0" rtlCol="0" anchor="t"/>
          <a:lstStyle/>
          <a:p>
            <a:pPr indent="0" marL="0">
              <a:buNone/>
            </a:pPr>
            <a:r>
              <a:rPr lang="en-US" sz="1700" dirty="0">
                <a:solidFill>
                  <a:srgbClr val="5F6368"/>
                </a:solidFill>
                <a:latin typeface="Arial" pitchFamily="34" charset="0"/>
                <a:ea typeface="Arial" pitchFamily="34" charset="-122"/>
                <a:cs typeface="Arial" pitchFamily="34" charset="-120"/>
              </a:rPr>
              <a:t>6 minutes  ·  Voice 0</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EF"/>
        </a:solidFill>
      </p:bgPr>
    </p:bg>
    <p:spTree>
      <p:nvGrpSpPr>
        <p:cNvPr id="1" name=""/>
        <p:cNvGrpSpPr/>
        <p:nvPr/>
      </p:nvGrpSpPr>
      <p:grpSpPr>
        <a:xfrm>
          <a:off x="0" y="0"/>
          <a:ext cx="0" cy="0"/>
          <a:chOff x="0" y="0"/>
          <a:chExt cx="0" cy="0"/>
        </a:xfrm>
      </p:grpSpPr>
      <p:sp>
        <p:nvSpPr>
          <p:cNvPr id="2" name="Text 0"/>
          <p:cNvSpPr txBox="1"/>
          <p:nvPr/>
        </p:nvSpPr>
        <p:spPr>
          <a:xfrm>
            <a:off x="609600" y="361950"/>
            <a:ext cx="10953750" cy="914400"/>
          </a:xfrm>
          <a:prstGeom prst="rect">
            <a:avLst/>
          </a:prstGeom>
          <a:noFill/>
          <a:ln/>
        </p:spPr>
        <p:txBody>
          <a:bodyPr wrap="square" lIns="0" tIns="0" rIns="0" bIns="0" rtlCol="0" anchor="ctr"/>
          <a:lstStyle/>
          <a:p>
            <a:pPr indent="0" marL="0">
              <a:buNone/>
            </a:pPr>
            <a:r>
              <a:rPr lang="en-US" sz="4200" b="1" dirty="0">
                <a:solidFill>
                  <a:srgbClr val="191919"/>
                </a:solidFill>
                <a:latin typeface="Arial Black" pitchFamily="34" charset="0"/>
                <a:ea typeface="Arial Black" pitchFamily="34" charset="-122"/>
                <a:cs typeface="Arial Black" pitchFamily="34" charset="-120"/>
              </a:rPr>
              <a:t>Before you go</a:t>
            </a:r>
            <a:endParaRPr lang="en-US" sz="4200" dirty="0"/>
          </a:p>
        </p:txBody>
      </p:sp>
      <p:sp>
        <p:nvSpPr>
          <p:cNvPr id="3" name="Shape 1"/>
          <p:cNvSpPr/>
          <p:nvPr/>
        </p:nvSpPr>
        <p:spPr>
          <a:xfrm>
            <a:off x="609600" y="1952625"/>
            <a:ext cx="10972800" cy="819150"/>
          </a:xfrm>
          <a:prstGeom prst="rect">
            <a:avLst/>
          </a:prstGeom>
          <a:solidFill>
            <a:srgbClr val="FFFFFF"/>
          </a:solidFill>
          <a:ln w="12700">
            <a:solidFill>
              <a:srgbClr val="FFFFFF"/>
            </a:solidFill>
            <a:prstDash val="solid"/>
          </a:ln>
        </p:spPr>
      </p:sp>
      <p:sp>
        <p:nvSpPr>
          <p:cNvPr id="4" name="Shape 2"/>
          <p:cNvSpPr/>
          <p:nvPr/>
        </p:nvSpPr>
        <p:spPr>
          <a:xfrm>
            <a:off x="800100" y="2105025"/>
            <a:ext cx="457200" cy="457200"/>
          </a:xfrm>
          <a:prstGeom prst="ellipse">
            <a:avLst/>
          </a:prstGeom>
          <a:solidFill>
            <a:srgbClr val="1955DB"/>
          </a:solidFill>
          <a:ln w="12700">
            <a:solidFill>
              <a:srgbClr val="1955DB"/>
            </a:solidFill>
            <a:prstDash val="solid"/>
          </a:ln>
        </p:spPr>
      </p:sp>
      <p:sp>
        <p:nvSpPr>
          <p:cNvPr id="5" name="Text 3"/>
          <p:cNvSpPr txBox="1"/>
          <p:nvPr/>
        </p:nvSpPr>
        <p:spPr>
          <a:xfrm>
            <a:off x="800100" y="2105025"/>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1</a:t>
            </a:r>
            <a:endParaRPr lang="en-US" sz="2000" dirty="0"/>
          </a:p>
        </p:txBody>
      </p:sp>
      <p:sp>
        <p:nvSpPr>
          <p:cNvPr id="6" name="Text 4"/>
          <p:cNvSpPr txBox="1"/>
          <p:nvPr/>
        </p:nvSpPr>
        <p:spPr>
          <a:xfrm>
            <a:off x="1447800" y="2066925"/>
            <a:ext cx="9925050" cy="628650"/>
          </a:xfrm>
          <a:prstGeom prst="rect">
            <a:avLst/>
          </a:prstGeom>
          <a:noFill/>
          <a:ln/>
        </p:spPr>
        <p:txBody>
          <a:bodyPr wrap="square" lIns="0" tIns="0" rIns="0" bIns="0" rtlCol="0" anchor="ctr"/>
          <a:lstStyle/>
          <a:p>
            <a:pPr indent="0" marL="0">
              <a:buNone/>
            </a:pPr>
            <a:r>
              <a:rPr lang="en-US" sz="2400" dirty="0">
                <a:solidFill>
                  <a:srgbClr val="191919"/>
                </a:solidFill>
                <a:latin typeface="Arial" pitchFamily="34" charset="0"/>
                <a:ea typeface="Arial" pitchFamily="34" charset="-122"/>
                <a:cs typeface="Arial" pitchFamily="34" charset="-120"/>
              </a:rPr>
              <a:t>Workbook p. 29 finished: 3 strengths, 5 problems, 3 fixes.</a:t>
            </a:r>
            <a:endParaRPr lang="en-US" sz="2400" dirty="0"/>
          </a:p>
        </p:txBody>
      </p:sp>
      <p:sp>
        <p:nvSpPr>
          <p:cNvPr id="7" name="Shape 5"/>
          <p:cNvSpPr/>
          <p:nvPr/>
        </p:nvSpPr>
        <p:spPr>
          <a:xfrm>
            <a:off x="609600" y="2905125"/>
            <a:ext cx="10972800" cy="819150"/>
          </a:xfrm>
          <a:prstGeom prst="rect">
            <a:avLst/>
          </a:prstGeom>
          <a:solidFill>
            <a:srgbClr val="FFFFFF"/>
          </a:solidFill>
          <a:ln w="12700">
            <a:solidFill>
              <a:srgbClr val="FFFFFF"/>
            </a:solidFill>
            <a:prstDash val="solid"/>
          </a:ln>
        </p:spPr>
      </p:sp>
      <p:sp>
        <p:nvSpPr>
          <p:cNvPr id="8" name="Shape 6"/>
          <p:cNvSpPr/>
          <p:nvPr/>
        </p:nvSpPr>
        <p:spPr>
          <a:xfrm>
            <a:off x="800100" y="3057525"/>
            <a:ext cx="457200" cy="457200"/>
          </a:xfrm>
          <a:prstGeom prst="ellipse">
            <a:avLst/>
          </a:prstGeom>
          <a:solidFill>
            <a:srgbClr val="1955DB"/>
          </a:solidFill>
          <a:ln w="12700">
            <a:solidFill>
              <a:srgbClr val="1955DB"/>
            </a:solidFill>
            <a:prstDash val="solid"/>
          </a:ln>
        </p:spPr>
      </p:sp>
      <p:sp>
        <p:nvSpPr>
          <p:cNvPr id="9" name="Text 7"/>
          <p:cNvSpPr txBox="1"/>
          <p:nvPr/>
        </p:nvSpPr>
        <p:spPr>
          <a:xfrm>
            <a:off x="800100" y="3057525"/>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2</a:t>
            </a:r>
            <a:endParaRPr lang="en-US" sz="2000" dirty="0"/>
          </a:p>
        </p:txBody>
      </p:sp>
      <p:sp>
        <p:nvSpPr>
          <p:cNvPr id="10" name="Text 8"/>
          <p:cNvSpPr txBox="1"/>
          <p:nvPr/>
        </p:nvSpPr>
        <p:spPr>
          <a:xfrm>
            <a:off x="1447800" y="3019425"/>
            <a:ext cx="9925050" cy="628650"/>
          </a:xfrm>
          <a:prstGeom prst="rect">
            <a:avLst/>
          </a:prstGeom>
          <a:noFill/>
          <a:ln/>
        </p:spPr>
        <p:txBody>
          <a:bodyPr wrap="square" lIns="0" tIns="0" rIns="0" bIns="0" rtlCol="0" anchor="ctr"/>
          <a:lstStyle/>
          <a:p>
            <a:pPr indent="0" marL="0">
              <a:buNone/>
            </a:pPr>
            <a:r>
              <a:rPr lang="en-US" sz="2400" dirty="0">
                <a:solidFill>
                  <a:srgbClr val="191919"/>
                </a:solidFill>
                <a:latin typeface="Arial" pitchFamily="34" charset="0"/>
                <a:ea typeface="Arial" pitchFamily="34" charset="-122"/>
                <a:cs typeface="Arial" pitchFamily="34" charset="-120"/>
              </a:rPr>
              <a:t>Your sketch in your folder.</a:t>
            </a:r>
            <a:endParaRPr lang="en-US" sz="2400" dirty="0"/>
          </a:p>
        </p:txBody>
      </p:sp>
      <p:sp>
        <p:nvSpPr>
          <p:cNvPr id="11" name="Shape 9"/>
          <p:cNvSpPr/>
          <p:nvPr/>
        </p:nvSpPr>
        <p:spPr>
          <a:xfrm>
            <a:off x="609600" y="3857625"/>
            <a:ext cx="10972800" cy="819150"/>
          </a:xfrm>
          <a:prstGeom prst="rect">
            <a:avLst/>
          </a:prstGeom>
          <a:solidFill>
            <a:srgbClr val="FFFFFF"/>
          </a:solidFill>
          <a:ln w="12700">
            <a:solidFill>
              <a:srgbClr val="FFFFFF"/>
            </a:solidFill>
            <a:prstDash val="solid"/>
          </a:ln>
        </p:spPr>
      </p:sp>
      <p:sp>
        <p:nvSpPr>
          <p:cNvPr id="12" name="Shape 10"/>
          <p:cNvSpPr/>
          <p:nvPr/>
        </p:nvSpPr>
        <p:spPr>
          <a:xfrm>
            <a:off x="800100" y="4010025"/>
            <a:ext cx="457200" cy="457200"/>
          </a:xfrm>
          <a:prstGeom prst="ellipse">
            <a:avLst/>
          </a:prstGeom>
          <a:solidFill>
            <a:srgbClr val="1955DB"/>
          </a:solidFill>
          <a:ln w="12700">
            <a:solidFill>
              <a:srgbClr val="1955DB"/>
            </a:solidFill>
            <a:prstDash val="solid"/>
          </a:ln>
        </p:spPr>
      </p:sp>
      <p:sp>
        <p:nvSpPr>
          <p:cNvPr id="13" name="Text 11"/>
          <p:cNvSpPr txBox="1"/>
          <p:nvPr/>
        </p:nvSpPr>
        <p:spPr>
          <a:xfrm>
            <a:off x="800100" y="4010025"/>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3</a:t>
            </a:r>
            <a:endParaRPr lang="en-US" sz="2000" dirty="0"/>
          </a:p>
        </p:txBody>
      </p:sp>
      <p:sp>
        <p:nvSpPr>
          <p:cNvPr id="14" name="Text 12"/>
          <p:cNvSpPr txBox="1"/>
          <p:nvPr/>
        </p:nvSpPr>
        <p:spPr>
          <a:xfrm>
            <a:off x="1447800" y="3971925"/>
            <a:ext cx="9925050" cy="628650"/>
          </a:xfrm>
          <a:prstGeom prst="rect">
            <a:avLst/>
          </a:prstGeom>
          <a:noFill/>
          <a:ln/>
        </p:spPr>
        <p:txBody>
          <a:bodyPr wrap="square" lIns="0" tIns="0" rIns="0" bIns="0" rtlCol="0" anchor="ctr"/>
          <a:lstStyle/>
          <a:p>
            <a:pPr indent="0" marL="0">
              <a:buNone/>
            </a:pPr>
            <a:r>
              <a:rPr lang="en-US" sz="2400" dirty="0">
                <a:solidFill>
                  <a:srgbClr val="191919"/>
                </a:solidFill>
                <a:latin typeface="Arial" pitchFamily="34" charset="0"/>
                <a:ea typeface="Arial" pitchFamily="34" charset="-122"/>
                <a:cs typeface="Arial" pitchFamily="34" charset="-120"/>
              </a:rPr>
              <a:t>Exit ticket submitted.</a:t>
            </a:r>
            <a:endParaRPr lang="en-US" sz="2400" dirty="0"/>
          </a:p>
        </p:txBody>
      </p:sp>
      <p:sp>
        <p:nvSpPr>
          <p:cNvPr id="15" name="Text 13"/>
          <p:cNvSpPr txBox="1"/>
          <p:nvPr/>
        </p:nvSpPr>
        <p:spPr>
          <a:xfrm>
            <a:off x="609600" y="5143500"/>
            <a:ext cx="10953750" cy="571500"/>
          </a:xfrm>
          <a:prstGeom prst="rect">
            <a:avLst/>
          </a:prstGeom>
          <a:noFill/>
          <a:ln/>
        </p:spPr>
        <p:txBody>
          <a:bodyPr wrap="square" lIns="0" tIns="0" rIns="0" bIns="0" rtlCol="0" anchor="t"/>
          <a:lstStyle/>
          <a:p>
            <a:pPr indent="0" marL="0">
              <a:buNone/>
            </a:pPr>
            <a:r>
              <a:rPr lang="en-US" sz="2200" b="1" dirty="0">
                <a:solidFill>
                  <a:srgbClr val="191919"/>
                </a:solidFill>
                <a:latin typeface="Arial" pitchFamily="34" charset="0"/>
                <a:ea typeface="Arial" pitchFamily="34" charset="-122"/>
                <a:cs typeface="Arial" pitchFamily="34" charset="-120"/>
              </a:rPr>
              <a:t>Tomorrow you design an app from scratch. Bring the same workbook.</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2026-09-15T14:54:33Z</dcterms:created>
  <dcterms:modified xsi:type="dcterms:W3CDTF">2026-09-15T14:54:33Z</dcterms:modified>
</cp:coreProperties>
</file>