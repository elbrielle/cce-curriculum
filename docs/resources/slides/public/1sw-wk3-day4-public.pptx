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this up as students walk in. Run time 50 minutes: warm-up 5, choose and model 8, research 30, evidence comparison exit 7. The Emerging IT Career Evidence Guide and the Research Template are both on the Day 4 page.
[Sources]
Emerging IT Career Evidence Guide (CCE-authored, build/worksheet_sources/wk3-emerging-careers-link-sheet.md; BLS OOH accessed 2026-08-09, May 2024 medians, 2024-34 projections).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0-5 min. The third blank is the point: a new technology creates new work, and today's question is whether the government's job data has caught up with that work yet.
[Sources]
Emerging IT Career Evidence Guide (CCE-authored, build/worksheet_sources/wk3-emerging-careers-link-sheet.md; BLS OOH accessed 2026-08-09, May 2024 medians, 2024-34 projections).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seconds.
[Sources]
Emerging IT Career Evidence Guide (CCE-authored, build/worksheet_sources/wk3-emerging-careers-link-sheet.md; BLS OOH accessed 2026-08-09, May 2024 medians, 2024-34 projections).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5-13 min. Model with the Data Scientists page on the projector: point at the median, the growth rate, and the years next to each. Then say the rule: exact if BLS names your job, proxy if it names a bigger job that includes yours. The evidence guide labels every choice already; students copy the label, they do not decide it.
[Sources]
U.S. Bureau of Labor Statistics, Occupational Outlook Handbook, "Data Scientists" (https://www.bls.gov/ooh/math/data-scientists.htm), screenshot captured 2026-09-15. Public domain. Emerging IT Career Evidence Guide (CCE-authored, build/worksheet_sources/wk3-emerging-careers-link-sheet.md; BLS OOH accessed 2026-08-09, May 2024 medians, 2024-34 projections).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of 5-13 min. One minute to choose. Assign a career to anyone still deciding at the minute mark. Six careers across the room is fine; three students on one career is fine.
[Sources]
Emerging IT Career Evidence Guide (CCE-authored, build/worksheet_sources/wk3-emerging-careers-link-sheet.md; BLS OOH accessed 2026-08-09, May 2024 medians, 2024-34 projections). Canvas page renders of CCE course 98060 student pages, captured 2026-09-15.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13-43 min. Lap 1 at minute 10 (occupation plus label), lap 2 at minute 22 (the emerging-work explanation). A median is not starting pay and a national number is not a Dallas salary; say it once when you see the first salary written down. Note for you: the printed guide was built from the May 2024 BLS release; the live site now shows 2025 medians and 2025-35 projections. That mismatch is the lesson working as designed (date your sources), but the guide should be regenerated before this week runs again.
[Sources]
Emerging IT Career Evidence Guide (CCE-authored, build/worksheet_sources/wk3-emerging-careers-link-sheet.md; BLS OOH accessed 2026-08-09, May 2024 medians, 2024-34 projections). U.S. Bureau of Labor Statistics, Occupational Outlook Handbook, "Data Scientists" (https://www.bls.gov/ooh/math/data-scientists.htm), screenshot captured 2026-09-15. Public domain. Canvas page renders of CCE course 98060 student pages, captured 2026-09-15.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43-45 min. Two minutes total. Listen for the word proxy used correctly; that is the d(1)(D) evidence for the day.
[Sources]
Emerging IT Career Evidence Guide (CCE-authored, build/worksheet_sources/wk3-emerging-careers-link-sheet.md; BLS OOH accessed 2026-08-09, May 2024 medians, 2024-34 projections).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43-50 min. The button opens a copy of the comparison Doc. The traditional career's numbers come from the Week 2 salary work or the same BLS site; both are fine if dated. Collect this sheet into the Major 1 packet; it is the Emerging Career Evidence rubric row.
[Sources]
Canvas page renders of CCE course 98060 student pages, captured 2026-09-15. Emerging IT Career Evidence Guide (CCE-authored, build/worksheet_sources/wk3-emerging-careers-link-sheet.md; BLS OOH accessed 2026-08-09, May 2024 medians, 2024-34 projections).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Last minute. Score the packets with the 16-point rubric before Day 5's Xello block; the rubric is on the Day 3 page.
[Sources]
Emerging IT Career Evidence Guide (CCE-authored, build/worksheet_sources/wk3-emerging-careers-link-sheet.md; BLS OOH accessed 2026-08-09, May 2024 medians, 2024-34 projections).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1905000"/>
            <a:ext cx="10953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Emerging IT careers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3143250"/>
            <a:ext cx="1047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5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one with dated evidence.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28650" y="3905250"/>
            <a:ext cx="1047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and Career Exploration · Week 3 · Day 4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28650" y="4476750"/>
            <a:ext cx="1047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your Chromebook and your Major 1 packet. No workbook today.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 you enter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609600" y="1905000"/>
            <a:ext cx="10972800" cy="1809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76300" y="2133600"/>
            <a:ext cx="104775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one technology you use today that did NOT exist when your parents were in middle school.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609600" y="4095750"/>
            <a:ext cx="571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Say it like this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4533900"/>
            <a:ext cx="1095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 did not exist then. Somebody had to ________ it, so a new job appeared: ________.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09600" y="5334000"/>
            <a:ext cx="1095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Smartphones, video calls, streaming, AI chatbots. Two people share.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Today you will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609600" y="19526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0100" y="21050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100" y="21050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47800" y="20669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what 'emerging' means and the exact-or-proxy rule.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09600" y="29051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" y="30575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0100" y="30575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447800" y="30194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one of six changing IT careers.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09600" y="38576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0100" y="40100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0100" y="40100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47800" y="39719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it with the dated evidence guide: tasks, preparation, median pay, growth, and the date of every number.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09600" y="48101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0100" y="49625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0100" y="49625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447800" y="49244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it to a traditional IT career on the exit ticket.</a:t>
            </a:r>
            <a:endParaRPr lang="en-US" sz="2200" dirty="0"/>
          </a:p>
        </p:txBody>
      </p:sp>
      <p:sp>
        <p:nvSpPr>
          <p:cNvPr id="19" name="Text 17"/>
          <p:cNvSpPr txBox="1"/>
          <p:nvPr/>
        </p:nvSpPr>
        <p:spPr>
          <a:xfrm>
            <a:off x="609600" y="5953125"/>
            <a:ext cx="10953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of the day: proxy. A broader job used to stand in when your exact job title is not listed.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Exact match or proxy?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Bureau of Labor Statistics does not list every new job title</a:t>
            </a:r>
            <a:endParaRPr lang="en-US" sz="2100" dirty="0"/>
          </a:p>
        </p:txBody>
      </p:sp>
      <p:pic>
        <p:nvPicPr>
          <p:cNvPr id="4" name="Image 0" descr="/home/claude/cce/build/slides/1sw-wk3/assets/bls-datasci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905000"/>
            <a:ext cx="6667500" cy="261937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09600" y="4572000"/>
            <a:ext cx="666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BLS Quick Facts box. Every number has a year next to it. Copy the year every time.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620000" y="1905000"/>
            <a:ext cx="39624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848600" y="2019300"/>
            <a:ext cx="1143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7A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Exact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9105900" y="2019300"/>
            <a:ext cx="22479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BLS lists your job by name. Data Scientist is exact.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620000" y="2857500"/>
            <a:ext cx="39624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848600" y="2971800"/>
            <a:ext cx="1143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Proxy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9105900" y="2971800"/>
            <a:ext cx="22479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BLS lists a broader job that includes yours. Cloud Architect uses Computer Network Architects.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620000" y="3810000"/>
            <a:ext cx="39624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848600" y="3924300"/>
            <a:ext cx="11430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1A6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None</a:t>
            </a:r>
            <a:endParaRPr lang="en-US" sz="2200" dirty="0"/>
          </a:p>
        </p:txBody>
      </p:sp>
      <p:sp>
        <p:nvSpPr>
          <p:cNvPr id="14" name="Text 11"/>
          <p:cNvSpPr txBox="1"/>
          <p:nvPr/>
        </p:nvSpPr>
        <p:spPr>
          <a:xfrm>
            <a:off x="9105900" y="3924300"/>
            <a:ext cx="224790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cool job title with no BLS page is not proof the job is new. It is a missing source.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09600" y="5048250"/>
            <a:ext cx="1095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 means the work is new or changing fast because of new technology. A new-sounding name by itself is not evidence.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Choose one career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Emerging IT Career Evidence Guide · link on the Day 4 page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09600" y="1905000"/>
            <a:ext cx="3505200" cy="1104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100" y="2038350"/>
            <a:ext cx="3143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95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/ Machine Learning Engineer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800100" y="2609850"/>
            <a:ext cx="3143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71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BLS label: proxy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43400" y="1905000"/>
            <a:ext cx="3505200" cy="1104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33900" y="2038350"/>
            <a:ext cx="3143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95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Architect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533900" y="2609850"/>
            <a:ext cx="3143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71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BLS label: proxy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077200" y="1905000"/>
            <a:ext cx="3505200" cy="1104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67700" y="2038350"/>
            <a:ext cx="3143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95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Information Security Analyst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267700" y="2609850"/>
            <a:ext cx="3143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BLS label: exact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9600" y="3143250"/>
            <a:ext cx="3505200" cy="1104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00100" y="3276600"/>
            <a:ext cx="3143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95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Scientist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00100" y="3848100"/>
            <a:ext cx="3143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7A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BLS label: exact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343400" y="3143250"/>
            <a:ext cx="3505200" cy="1104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33900" y="3276600"/>
            <a:ext cx="3143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95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UX Designer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4533900" y="3848100"/>
            <a:ext cx="3143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71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BLS label: closest match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077200" y="3143250"/>
            <a:ext cx="3505200" cy="11049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67700" y="3276600"/>
            <a:ext cx="31432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1955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Drone Software Developer</a:t>
            </a:r>
            <a:endParaRPr lang="en-US" sz="1900" dirty="0"/>
          </a:p>
        </p:txBody>
      </p:sp>
      <p:sp>
        <p:nvSpPr>
          <p:cNvPr id="21" name="Text 19"/>
          <p:cNvSpPr txBox="1"/>
          <p:nvPr/>
        </p:nvSpPr>
        <p:spPr>
          <a:xfrm>
            <a:off x="8267700" y="3848100"/>
            <a:ext cx="31432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D71A6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BLS label: proxy</a:t>
            </a:r>
            <a:endParaRPr lang="en-US" sz="1500" dirty="0"/>
          </a:p>
        </p:txBody>
      </p:sp>
      <p:pic>
        <p:nvPicPr>
          <p:cNvPr id="22" name="Image 0" descr="/home/claude/cce/build/slides/1sw-wk3/assets/cv-d4-gu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4572000"/>
            <a:ext cx="4762500" cy="66675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5715000" y="4572000"/>
            <a:ext cx="58674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5F63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guide carries the BLS occupation, the page link, and the dated numbers for each. Take the choice you can explain in one sentence.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Research with dated evidence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minutes · Voice 0 · Open the Emerging Tech Research Template</a:t>
            </a:r>
            <a:endParaRPr lang="en-US" sz="2100" dirty="0"/>
          </a:p>
        </p:txBody>
      </p:sp>
      <p:pic>
        <p:nvPicPr>
          <p:cNvPr id="4" name="Image 0" descr="/home/claude/cce/build/slides/1sw-wk3/assets/cv-d4-templa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905000"/>
            <a:ext cx="4000500" cy="952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600" y="2952750"/>
            <a:ext cx="6858000" cy="552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0100" y="3105150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0100" y="31051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447800" y="3067050"/>
            <a:ext cx="5810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the BLS occupation and its label (exact or proxy) from the guide.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09600" y="3638550"/>
            <a:ext cx="6858000" cy="552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00100" y="3790950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00100" y="37909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1447800" y="3752850"/>
            <a:ext cx="5810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BLS page from the guide. Record tasks, preparation, median pay, growth.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09600" y="4324350"/>
            <a:ext cx="6858000" cy="552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00100" y="4476750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00100" y="44767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3"/>
          <p:cNvSpPr txBox="1"/>
          <p:nvPr/>
        </p:nvSpPr>
        <p:spPr>
          <a:xfrm>
            <a:off x="1447800" y="4438650"/>
            <a:ext cx="5810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the YEAR next to every number. Guide and website disagree? Use the newer one and say so.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09600" y="5010150"/>
            <a:ext cx="6858000" cy="5524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0100" y="5162550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00100" y="516255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7"/>
          <p:cNvSpPr txBox="1"/>
          <p:nvPr/>
        </p:nvSpPr>
        <p:spPr>
          <a:xfrm>
            <a:off x="1447800" y="5124450"/>
            <a:ext cx="581025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in two sentences why this work is new or changing.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7810500" y="1905000"/>
            <a:ext cx="3771900" cy="31432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039100" y="2038350"/>
            <a:ext cx="342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Check yourself</a:t>
            </a:r>
            <a:endParaRPr lang="en-US" sz="2300" dirty="0"/>
          </a:p>
        </p:txBody>
      </p:sp>
      <p:sp>
        <p:nvSpPr>
          <p:cNvPr id="23" name="Text 20"/>
          <p:cNvSpPr txBox="1"/>
          <p:nvPr/>
        </p:nvSpPr>
        <p:spPr>
          <a:xfrm>
            <a:off x="8039100" y="2457450"/>
            <a:ext cx="333375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 10: occupation and label written.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Minute 22: the 'why it is changing' sentences started.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8039100" y="3619500"/>
            <a:ext cx="342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E7A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 are done when</a:t>
            </a:r>
            <a:endParaRPr lang="en-US" sz="2300" dirty="0"/>
          </a:p>
        </p:txBody>
      </p:sp>
      <p:sp>
        <p:nvSpPr>
          <p:cNvPr id="25" name="Text 22"/>
          <p:cNvSpPr txBox="1"/>
          <p:nvPr/>
        </p:nvSpPr>
        <p:spPr>
          <a:xfrm>
            <a:off x="8039100" y="4038600"/>
            <a:ext cx="33337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number has a year, the label matches the guide, and your two sentences name a technology.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609600" y="5810250"/>
            <a:ext cx="10972800" cy="609600"/>
          </a:xfrm>
          <a:prstGeom prst="rect">
            <a:avLst/>
          </a:prstGeom>
          <a:solidFill>
            <a:srgbClr val="F4D941"/>
          </a:solidFill>
          <a:ln w="12700">
            <a:solidFill>
              <a:srgbClr val="F4D941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00100" y="5962650"/>
            <a:ext cx="105918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Finished early? Open the Similar Occupations tab on your BLS page and record one job that could be a second proxy.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Turn and tell</a:t>
            </a:r>
            <a:endParaRPr lang="en-US" sz="42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seconds each · Voice 1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09600" y="1905000"/>
            <a:ext cx="10972800" cy="14287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76300" y="2133600"/>
            <a:ext cx="10477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Tell your partner which career you chose and whether your evidence is exact or a proxy. Your partner repeats it back in one sentence.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09600" y="3619500"/>
            <a:ext cx="571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Say it like this</a:t>
            </a:r>
            <a:endParaRPr lang="en-US" sz="2300" dirty="0"/>
          </a:p>
        </p:txBody>
      </p:sp>
      <p:sp>
        <p:nvSpPr>
          <p:cNvPr id="7" name="Text 5"/>
          <p:cNvSpPr txBox="1"/>
          <p:nvPr/>
        </p:nvSpPr>
        <p:spPr>
          <a:xfrm>
            <a:off x="609600" y="4057650"/>
            <a:ext cx="1095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BLS reports this exact career.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BLS reports a related occupation that helps us understand this career.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09600" y="5048250"/>
            <a:ext cx="571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Words you will need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609600" y="5486400"/>
            <a:ext cx="109537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occupation  ·  task  ·  preparation  ·  median pay  ·  growth  ·  exact match  ·  proxy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Exit ticket: emerging vs. traditional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28650" y="1295400"/>
            <a:ext cx="1091565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Emerging/Established IT Career Comparison · 7 minutes</a:t>
            </a:r>
            <a:endParaRPr lang="en-US" sz="2100" dirty="0"/>
          </a:p>
        </p:txBody>
      </p:sp>
      <p:pic>
        <p:nvPicPr>
          <p:cNvPr id="4" name="Image 0" descr="/home/claude/cce/build/slides/1sw-wk3/assets/cv-d4-compa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905000"/>
            <a:ext cx="4762500" cy="952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600" y="3048000"/>
            <a:ext cx="68580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38200" y="3200400"/>
            <a:ext cx="6477000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emerging career vs. one traditional IT career (Software Developer, Web Developer, Network Administrator, or Database Administrator).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Rows: what they do · median salary (BLS, with year) · growth rate (BLS, with years) · why did this career exist 20 years ago?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810500" y="1905000"/>
            <a:ext cx="3771900" cy="3429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039100" y="2038350"/>
            <a:ext cx="3429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Bottom line</a:t>
            </a:r>
            <a:endParaRPr lang="en-US" sz="2300" dirty="0"/>
          </a:p>
        </p:txBody>
      </p:sp>
      <p:sp>
        <p:nvSpPr>
          <p:cNvPr id="9" name="Text 6"/>
          <p:cNvSpPr txBox="1"/>
          <p:nvPr/>
        </p:nvSpPr>
        <p:spPr>
          <a:xfrm>
            <a:off x="8039100" y="2457450"/>
            <a:ext cx="33337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of the two is growing faster right now? Use the growth rates from your matrix to back it up in one sentence.</a:t>
            </a:r>
            <a:endParaRPr lang="en-US" sz="1900" dirty="0"/>
          </a:p>
        </p:txBody>
      </p:sp>
      <p:sp>
        <p:nvSpPr>
          <p:cNvPr id="10" name="Text 7"/>
          <p:cNvSpPr txBox="1"/>
          <p:nvPr/>
        </p:nvSpPr>
        <p:spPr>
          <a:xfrm>
            <a:off x="609600" y="5524500"/>
            <a:ext cx="571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955D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Say it like this</a:t>
            </a:r>
            <a:endParaRPr lang="en-US" sz="2300" dirty="0"/>
          </a:p>
        </p:txBody>
      </p:sp>
      <p:sp>
        <p:nvSpPr>
          <p:cNvPr id="11" name="Text 8"/>
          <p:cNvSpPr txBox="1"/>
          <p:nvPr/>
        </p:nvSpPr>
        <p:spPr>
          <a:xfrm>
            <a:off x="609600" y="5962650"/>
            <a:ext cx="1095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________ is growing faster: ____% vs. ____% (BLS, ______).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09600" y="361950"/>
            <a:ext cx="1095375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9191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 you go</a:t>
            </a:r>
            <a:endParaRPr lang="en-US" sz="4200" dirty="0"/>
          </a:p>
        </p:txBody>
      </p:sp>
      <p:sp>
        <p:nvSpPr>
          <p:cNvPr id="3" name="Shape 1"/>
          <p:cNvSpPr/>
          <p:nvPr/>
        </p:nvSpPr>
        <p:spPr>
          <a:xfrm>
            <a:off x="609600" y="19526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0100" y="21050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0100" y="21050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447800" y="20669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template finished, every number dated.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09600" y="29051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" y="30575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00100" y="30575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447800" y="30194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submitted and added to your Major 1 packet.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09600" y="3857625"/>
            <a:ext cx="10972800" cy="81915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0100" y="4010025"/>
            <a:ext cx="457200" cy="457200"/>
          </a:xfrm>
          <a:prstGeom prst="ellipse">
            <a:avLst/>
          </a:prstGeom>
          <a:solidFill>
            <a:srgbClr val="1955DB"/>
          </a:solidFill>
          <a:ln w="12700">
            <a:solidFill>
              <a:srgbClr val="1955D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0100" y="4010025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47800" y="3971925"/>
            <a:ext cx="99250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Packet turned in: plan, four screens, partner notes, starred changes, evidence sheet.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609600" y="5143500"/>
            <a:ext cx="10953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919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Tomorrow is Xello: a quiz about how you learn, then a short lesson. No packet needed.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2026-09-15T15:30:40Z</dcterms:created>
  <dcterms:modified xsi:type="dcterms:W3CDTF">2026-09-15T15:30:40Z</dcterms:modified>
</cp:coreProperties>
</file>